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4"/>
  </p:notesMasterIdLst>
  <p:sldIdLst>
    <p:sldId id="256" r:id="rId3"/>
  </p:sldIdLst>
  <p:sldSz cx="43891200" cy="32918400"/>
  <p:notesSz cx="6858000" cy="9144000"/>
  <p:embeddedFontLst>
    <p:embeddedFont>
      <p:font typeface="Arial Black" panose="020B0A04020102020204" pitchFamily="34" charset="0"/>
      <p:regular r:id="rId5"/>
      <p:bold r:id="rId6"/>
    </p:embeddedFont>
    <p:embeddedFont>
      <p:font typeface="Garamond" panose="02020404030301010803" pitchFamily="18" charset="0"/>
      <p:regular r:id="rId7"/>
      <p:bold r:id="rId8"/>
      <p:italic r:id="rId9"/>
      <p:boldItalic r:id="rId10"/>
    </p:embeddedFont>
    <p:embeddedFont>
      <p:font typeface="Helvetica Neue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6s/6j4kNOWpoJDMPdlVG1TC5k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2758" y="-2909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43891200" cy="5255100"/>
          </a:xfrm>
          <a:prstGeom prst="rect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5255100"/>
            <a:ext cx="43891200" cy="27663300"/>
          </a:xfrm>
          <a:prstGeom prst="rect">
            <a:avLst/>
          </a:prstGeom>
          <a:solidFill>
            <a:srgbClr val="D5A6B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90150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88163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2285938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3063813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21018500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21864638" y="5638800"/>
            <a:ext cx="210200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2193925" y="10439400"/>
            <a:ext cx="19392900" cy="1896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22296438" y="7369175"/>
            <a:ext cx="19400837" cy="307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22296438" y="10439400"/>
            <a:ext cx="19400837" cy="1896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17160875" y="1311275"/>
            <a:ext cx="24536400" cy="2809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»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2193925" y="6888163"/>
            <a:ext cx="14439900" cy="225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8602663" y="23042563"/>
            <a:ext cx="26335037" cy="272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>
            <a:spLocks noGrp="1"/>
          </p:cNvSpPr>
          <p:nvPr>
            <p:ph type="pic" idx="2"/>
          </p:nvPr>
        </p:nvSpPr>
        <p:spPr>
          <a:xfrm>
            <a:off x="8602663" y="2941638"/>
            <a:ext cx="26335037" cy="19750087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8602663" y="25763538"/>
            <a:ext cx="26335037" cy="38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 rot="5400000">
            <a:off x="8149432" y="-1816893"/>
            <a:ext cx="27279600" cy="4219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 rot="5400000">
            <a:off x="21151850" y="11185525"/>
            <a:ext cx="32918400" cy="105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 rot="5400000">
            <a:off x="-19843" y="713582"/>
            <a:ext cx="32918400" cy="31491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BAC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0" y="0"/>
            <a:ext cx="43891200" cy="4800600"/>
          </a:xfrm>
          <a:prstGeom prst="rect">
            <a:avLst/>
          </a:prstGeom>
          <a:solidFill>
            <a:srgbClr val="0034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693738" y="5638800"/>
            <a:ext cx="9974262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130628" y="4800600"/>
            <a:ext cx="43662600" cy="242887"/>
          </a:xfrm>
          <a:prstGeom prst="rect">
            <a:avLst/>
          </a:prstGeom>
          <a:solidFill>
            <a:srgbClr val="660000"/>
          </a:solidFill>
          <a:ln w="152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2"/>
          <p:cNvSpPr/>
          <p:nvPr/>
        </p:nvSpPr>
        <p:spPr>
          <a:xfrm>
            <a:off x="609600" y="32445325"/>
            <a:ext cx="2514600" cy="35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l" rt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DESIGN © 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6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www.PosterPresentations.com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1490325" y="5638800"/>
            <a:ext cx="9982200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2272625" y="5638800"/>
            <a:ext cx="9982200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33078738" y="5638800"/>
            <a:ext cx="9982200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marR="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BAC9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43891200" cy="4800600"/>
          </a:xfrm>
          <a:prstGeom prst="rect">
            <a:avLst/>
          </a:prstGeom>
          <a:solidFill>
            <a:srgbClr val="D7D7D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693738" y="5638800"/>
            <a:ext cx="42367200" cy="26563638"/>
          </a:xfrm>
          <a:prstGeom prst="rect">
            <a:avLst/>
          </a:prstGeom>
          <a:solidFill>
            <a:srgbClr val="D7D7D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0" y="4800600"/>
            <a:ext cx="43891200" cy="130175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marR="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mailto:Victor.Govindaswamy@cuchicago.edu" TargetMode="External"/><Relationship Id="rId5" Type="http://schemas.openxmlformats.org/officeDocument/2006/relationships/image" Target="../media/image2.png"/><Relationship Id="rId25" Type="http://schemas.openxmlformats.org/officeDocument/2006/relationships/image" Target="../media/image22.jpeg"/><Relationship Id="rId26" Type="http://schemas.openxmlformats.org/officeDocument/2006/relationships/image" Target="../media/image23.png"/><Relationship Id="rId27" Type="http://schemas.openxmlformats.org/officeDocument/2006/relationships/image" Target="../media/image24.png"/><Relationship Id="rId28" Type="http://schemas.openxmlformats.org/officeDocument/2006/relationships/image" Target="../media/image25.png"/><Relationship Id="rId29" Type="http://schemas.openxmlformats.org/officeDocument/2006/relationships/image" Target="../media/image26.png"/><Relationship Id="rId30" Type="http://schemas.openxmlformats.org/officeDocument/2006/relationships/image" Target="../media/image27.png"/><Relationship Id="rId31" Type="http://schemas.openxmlformats.org/officeDocument/2006/relationships/image" Target="../media/image28.png"/><Relationship Id="rId32" Type="http://schemas.openxmlformats.org/officeDocument/2006/relationships/image" Target="../media/image29.png"/><Relationship Id="rId33" Type="http://schemas.openxmlformats.org/officeDocument/2006/relationships/image" Target="../media/image30.png"/><Relationship Id="rId34" Type="http://schemas.openxmlformats.org/officeDocument/2006/relationships/image" Target="../media/image31.png"/><Relationship Id="rId35" Type="http://schemas.openxmlformats.org/officeDocument/2006/relationships/image" Target="../media/image32.png"/><Relationship Id="rId36" Type="http://schemas.openxmlformats.org/officeDocument/2006/relationships/image" Target="../media/image33.png"/><Relationship Id="rId37" Type="http://schemas.openxmlformats.org/officeDocument/2006/relationships/image" Target="../media/image34.png"/><Relationship Id="rId38" Type="http://schemas.openxmlformats.org/officeDocument/2006/relationships/image" Target="../media/image35.png"/><Relationship Id="rId3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B2B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15153" y="621750"/>
            <a:ext cx="6083696" cy="39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/>
          <p:nvPr/>
        </p:nvSpPr>
        <p:spPr>
          <a:xfrm>
            <a:off x="689075" y="28843250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i="0" u="none" strike="noStrike" cap="none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Technolog</a:t>
            </a: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ies </a:t>
            </a:r>
            <a:r>
              <a:rPr lang="en-US" sz="3600" b="1" i="0" u="none" strike="noStrike" cap="none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Used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6509400" y="184500"/>
            <a:ext cx="30872400" cy="51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US" sz="7200" b="1" dirty="0">
                <a:solidFill>
                  <a:srgbClr val="FFFFFF"/>
                </a:solidFill>
                <a:latin typeface="Garamond" panose="02020404030301010803" pitchFamily="18" charset="0"/>
              </a:rPr>
              <a:t>Design and Implementation of an Indexed Cloud-Record Search System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US" sz="7200" b="1" dirty="0">
                <a:solidFill>
                  <a:srgbClr val="FFFFFF"/>
                </a:solidFill>
                <a:latin typeface="Garamond" panose="02020404030301010803" pitchFamily="18" charset="0"/>
              </a:rPr>
              <a:t>using a B+ Tree called </a:t>
            </a:r>
            <a:r>
              <a:rPr lang="en-US" sz="7200" b="1" dirty="0" err="1">
                <a:solidFill>
                  <a:srgbClr val="FFFFFF"/>
                </a:solidFill>
                <a:latin typeface="Garamond" panose="02020404030301010803" pitchFamily="18" charset="0"/>
              </a:rPr>
              <a:t>CloudVault</a:t>
            </a:r>
            <a:endParaRPr sz="7200" b="1" i="0" u="none" strike="noStrike" cap="none" dirty="0">
              <a:solidFill>
                <a:srgbClr val="FFFFFF"/>
              </a:solidFill>
              <a:latin typeface="Garamond" panose="02020404030301010803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Garamond" panose="02020404030301010803" pitchFamily="18" charset="0"/>
                <a:sym typeface="Arial"/>
              </a:rPr>
              <a:t>PRANAV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Garamond" panose="02020404030301010803" pitchFamily="18" charset="0"/>
                <a:sym typeface="Arial"/>
              </a:rPr>
              <a:t>SINGH</a:t>
            </a:r>
            <a:endParaRPr sz="1100" b="0" i="0" u="none" strike="noStrike" cap="none" dirty="0">
              <a:solidFill>
                <a:srgbClr val="000000"/>
              </a:solidFill>
              <a:latin typeface="Garamond" panose="02020404030301010803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4300" b="1" i="0" u="none" strike="noStrike" cap="none" dirty="0">
                <a:solidFill>
                  <a:srgbClr val="FFFFFF"/>
                </a:solidFill>
                <a:latin typeface="Garamond" panose="02020404030301010803" pitchFamily="18" charset="0"/>
                <a:sym typeface="Arial"/>
              </a:rPr>
              <a:t>Faculty Advisor: Dr. Victor Govindaswamy</a:t>
            </a:r>
            <a:endParaRPr sz="900" b="0" i="0" u="none" strike="noStrike" cap="none" dirty="0">
              <a:solidFill>
                <a:srgbClr val="000000"/>
              </a:solidFill>
              <a:latin typeface="Garamond" panose="02020404030301010803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 b="1" i="0" u="none" strike="noStrike" cap="none" dirty="0">
                <a:solidFill>
                  <a:srgbClr val="FFFFFF"/>
                </a:solidFill>
                <a:latin typeface="Garamond" panose="02020404030301010803" pitchFamily="18" charset="0"/>
                <a:sym typeface="Arial"/>
              </a:rPr>
              <a:t>Concordia University Chicago</a:t>
            </a:r>
            <a:endParaRPr sz="900" b="0" i="0" u="none" strike="noStrike" cap="none" dirty="0">
              <a:solidFill>
                <a:srgbClr val="000000"/>
              </a:solidFill>
              <a:latin typeface="Garamond" panose="02020404030301010803" pitchFamily="18" charset="0"/>
              <a:sym typeface="Arial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33061800" y="26800925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Contacts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3099701" y="27337651"/>
            <a:ext cx="97497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Bioinformatics And Technology Laboratory (BAT Lab) </a:t>
            </a:r>
            <a:endParaRPr sz="28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 </a:t>
            </a:r>
            <a:r>
              <a:rPr lang="en-US" sz="28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Programming Application Implementation and Design (PAID)</a:t>
            </a:r>
            <a:endParaRPr sz="28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Computer Science Department (CSC@CUC)</a:t>
            </a:r>
            <a:endParaRPr sz="28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 </a:t>
            </a:r>
            <a:endParaRPr sz="28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Member: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	PRANAV </a:t>
            </a:r>
            <a:r>
              <a:rPr lang="en-US" sz="2800" i="0" u="none" strike="noStrike" cap="none" dirty="0" err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SINGH</a:t>
            </a:r>
            <a:endParaRPr sz="28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Advisor: 	</a:t>
            </a:r>
            <a:r>
              <a:rPr lang="en-US" sz="2800" i="0" u="none" strike="noStrike" cap="none" dirty="0" err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Dr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2800" i="0" u="none" strike="noStrike" cap="none" dirty="0" err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Visvasuresh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(Victor) Govindaswamy</a:t>
            </a:r>
            <a:endParaRPr sz="28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Email: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	Victor.Govindaswamy@cuchicago.edu</a:t>
            </a:r>
            <a:r>
              <a:rPr lang="en-US" sz="2800" i="0" u="sng" strike="noStrike" cap="none" dirty="0">
                <a:solidFill>
                  <a:schemeClr val="hlink"/>
                </a:solidFill>
                <a:latin typeface="Garamond"/>
                <a:ea typeface="Garamond"/>
                <a:cs typeface="Garamond"/>
                <a:sym typeface="Garamond"/>
                <a:hlinkClick r:id="rId4"/>
              </a:rPr>
              <a:t> </a:t>
            </a:r>
            <a:endParaRPr sz="28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Address: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	Concordia Chicago University</a:t>
            </a:r>
            <a:b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       	7400 Augusta Street</a:t>
            </a:r>
            <a:b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	River Forest, IL, 6030</a:t>
            </a:r>
            <a:r>
              <a:rPr lang="en-US" sz="28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-1499</a:t>
            </a:r>
            <a:endParaRPr sz="28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651" y="29739375"/>
            <a:ext cx="3119450" cy="2342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CSCUCV1Big.jpg">
            <a:extLst>
              <a:ext uri="{FF2B5EF4-FFF2-40B4-BE49-F238E27FC236}">
                <a16:creationId xmlns:a16="http://schemas.microsoft.com/office/drawing/2014/main" id="{187345C8-ABC2-0BF8-5280-A751B488195A}"/>
              </a:ext>
            </a:extLst>
          </p:cNvPr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1490325" y="1771965"/>
            <a:ext cx="1849898" cy="2390475"/>
          </a:xfrm>
          <a:prstGeom prst="rect">
            <a:avLst/>
          </a:prstGeom>
        </p:spPr>
      </p:pic>
      <p:pic>
        <p:nvPicPr>
          <p:cNvPr id="3" name="Picture 2" descr="CSCUCV1Big.jpg">
            <a:extLst>
              <a:ext uri="{FF2B5EF4-FFF2-40B4-BE49-F238E27FC236}">
                <a16:creationId xmlns:a16="http://schemas.microsoft.com/office/drawing/2014/main" id="{10133330-F11B-8F00-F989-4A0B9CEB07DB}"/>
              </a:ext>
            </a:extLst>
          </p:cNvPr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30409690" y="1771965"/>
            <a:ext cx="1849898" cy="2390475"/>
          </a:xfrm>
          <a:prstGeom prst="rect">
            <a:avLst/>
          </a:prstGeom>
        </p:spPr>
      </p:pic>
      <p:pic>
        <p:nvPicPr>
          <p:cNvPr id="100" name="Photo" descr="photo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56231" y="621792"/>
            <a:ext cx="3703320" cy="4206240"/>
          </a:xfrm>
          <a:prstGeom prst="rect">
            <a:avLst/>
          </a:prstGeom>
        </p:spPr>
      </p:pic>
      <p:sp>
        <p:nvSpPr>
          <p:cNvPr id="501" name="Section: Abstract"/>
          <p:cNvSpPr/>
          <p:nvPr/>
        </p:nvSpPr>
        <p:spPr>
          <a:xfrm>
            <a:off x="694944" y="5641848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Abstract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2" name="Abstract text"/>
          <p:cNvSpPr txBox="1"/>
          <p:nvPr/>
        </p:nvSpPr>
        <p:spPr>
          <a:xfrm>
            <a:off x="694944" y="6275984"/>
            <a:ext cx="9985248" cy="143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Field: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This project, situated within Computer Science, focuses on data structures and their role in cloud computing and databases. It studies the B+ tree, the balanced multi-way search tree behind most database indexes.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Purpose: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The aim is to show how a cloud service can find one record among millions in only a few storage reads. CloudVault is a menu-based C++ application that indexes cloud resource records (tenant, type, region, size and date) by record ID using a B+ tree built from scratch.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Method: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The tree supports search, range search, insertion with node splits, and deletion with borrowing and merging. The program prints every search path and structural change, and a built-in self-check verifies all B+ tree rules.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Results: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Every lookup costs one node read per level. Growing the index from 1,000 to 1,000,000 records added only one level, and lookups were 365× faster than a linear scan.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Future enhancements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include storing each node as a fixed-size disk page, saving the index to a file between runs, and supporting many users reading and writing at the same time.</a:t>
            </a:r>
          </a:p>
        </p:txBody>
      </p:sp>
      <p:sp>
        <p:nvSpPr>
          <p:cNvPr id="503" name="Section: UML Class Diagram"/>
          <p:cNvSpPr/>
          <p:nvPr/>
        </p:nvSpPr>
        <p:spPr>
          <a:xfrm>
            <a:off x="694944" y="20942960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UML Class Diagram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04" name="UML class diagram" descr="uml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2104" y="22156049"/>
            <a:ext cx="9710928" cy="6004590"/>
          </a:xfrm>
          <a:prstGeom prst="rect">
            <a:avLst/>
          </a:prstGeom>
        </p:spPr>
      </p:pic>
      <p:pic>
        <p:nvPicPr>
          <p:cNvPr id="505" name="macOS logo" descr="appl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98848" y="29827727"/>
            <a:ext cx="2103120" cy="2103120"/>
          </a:xfrm>
          <a:prstGeom prst="rect">
            <a:avLst/>
          </a:prstGeom>
        </p:spPr>
      </p:pic>
      <p:pic>
        <p:nvPicPr>
          <p:cNvPr id="506" name="GitHub logo" descr="github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13548" y="29827727"/>
            <a:ext cx="2103120" cy="2103120"/>
          </a:xfrm>
          <a:prstGeom prst="rect">
            <a:avLst/>
          </a:prstGeom>
        </p:spPr>
      </p:pic>
      <p:sp>
        <p:nvSpPr>
          <p:cNvPr id="504" name="Section: B+ Tree"/>
          <p:cNvSpPr/>
          <p:nvPr/>
        </p:nvSpPr>
        <p:spPr>
          <a:xfrm>
            <a:off x="11484864" y="5641848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B+ Tree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5" name="B+ tree text"/>
          <p:cNvSpPr txBox="1"/>
          <p:nvPr/>
        </p:nvSpPr>
        <p:spPr>
          <a:xfrm>
            <a:off x="11484864" y="6275984"/>
            <a:ext cx="9985248" cy="26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A B+ tree is a balanced search tree whose nodes hold many sorted keys. Internal nodes only route a search; every record lives in a linked leaf. Nodes stay at least half full and all leaves sit at the same depth, so a lookup reads one node per level.</a:t>
            </a:r>
          </a:p>
        </p:txBody>
      </p:sp>
      <p:pic>
        <p:nvPicPr>
          <p:cNvPr id="507" name="B+ tree diagram" descr="01-bplus-tree-structur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84864" y="9003944"/>
            <a:ext cx="9985248" cy="3727825"/>
          </a:xfrm>
          <a:prstGeom prst="rect">
            <a:avLst/>
          </a:prstGeom>
        </p:spPr>
      </p:pic>
      <p:sp>
        <p:nvSpPr>
          <p:cNvPr id="506" name="Section: Real-World Application: Cloud Databases"/>
          <p:cNvSpPr/>
          <p:nvPr/>
        </p:nvSpPr>
        <p:spPr>
          <a:xfrm>
            <a:off x="11484864" y="12896362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Real-World Application: Cloud Databases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7" name="Cloud text"/>
          <p:cNvSpPr txBox="1"/>
          <p:nvPr/>
        </p:nvSpPr>
        <p:spPr>
          <a:xfrm>
            <a:off x="11484864" y="13530498"/>
            <a:ext cx="9985248" cy="37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Cloud databases keep data on network storage, where every page read is a round trip. One B+ tree node is one storage page holding hundreds of keys, so even billions of rows are only 3–4 levels deep. MySQL, PostgreSQL, Azure SQL and SQLite index with B-trees or B+ trees, and Amazon DynamoDB's storage nodes keep partition data in a B-tree.</a:t>
            </a:r>
          </a:p>
        </p:txBody>
      </p:sp>
      <p:sp>
        <p:nvSpPr>
          <p:cNvPr id="508" name="Section: Complexity &amp; Results"/>
          <p:cNvSpPr/>
          <p:nvPr/>
        </p:nvSpPr>
        <p:spPr>
          <a:xfrm>
            <a:off x="11484864" y="17413650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Complexity &amp; Results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9" name="Complexity text"/>
          <p:cNvSpPr txBox="1"/>
          <p:nvPr/>
        </p:nvSpPr>
        <p:spPr>
          <a:xfrm>
            <a:off x="11484864" y="18047787"/>
            <a:ext cx="9985248" cy="423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Search, insert, delete: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O(log_m n) node reads, with at most one split or merge per level.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Range search: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O(log_m n + k/m), one descent then a walk along the linked leaves.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Space: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O(n), since every node is half to completely full.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Measured: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1,000 → 1,000,000 records added only one level; lookups were 365× faster than a linear scan.</a:t>
            </a:r>
          </a:p>
        </p:txBody>
      </p:sp>
      <p:sp>
        <p:nvSpPr>
          <p:cNvPr id="510" name="Section: Error Handling"/>
          <p:cNvSpPr/>
          <p:nvPr/>
        </p:nvSpPr>
        <p:spPr>
          <a:xfrm>
            <a:off x="11484864" y="22449099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Error Handling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11" name="Error handling text"/>
          <p:cNvSpPr txBox="1"/>
          <p:nvPr/>
        </p:nvSpPr>
        <p:spPr>
          <a:xfrm>
            <a:off x="11484864" y="23083235"/>
            <a:ext cx="9985248" cy="26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Every input is read as a full line and validated before use, so a typo can never crash the menu or corrupt the tree. Menu choices, sizes and dates are range-checked, tenant names allow only letters, digits, '-' and '_', and impossible dates such as 2026-02-30 are rejected.</a:t>
            </a:r>
          </a:p>
        </p:txBody>
      </p:sp>
      <p:sp>
        <p:nvSpPr>
          <p:cNvPr id="512" name="Section: Object-Oriented Design"/>
          <p:cNvSpPr/>
          <p:nvPr/>
        </p:nvSpPr>
        <p:spPr>
          <a:xfrm>
            <a:off x="11484864" y="25930067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Object-Oriented Design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13" name="OOP text"/>
          <p:cNvSpPr txBox="1"/>
          <p:nvPr/>
        </p:nvSpPr>
        <p:spPr>
          <a:xfrm>
            <a:off x="11484864" y="26564203"/>
            <a:ext cx="9985248" cy="216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Each class has one job: BPlusTree is the data structure, CloudIndexApp runs the menu, CloudRecord holds a resource, and the input functions validate every entry. The tree owns and frees its own nodes.</a:t>
            </a:r>
          </a:p>
        </p:txBody>
      </p:sp>
      <p:sp>
        <p:nvSpPr>
          <p:cNvPr id="514" name="Section: Further Future Work"/>
          <p:cNvSpPr/>
          <p:nvPr/>
        </p:nvSpPr>
        <p:spPr>
          <a:xfrm>
            <a:off x="11484864" y="28892875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Further Future Work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15" name="Future work text"/>
          <p:cNvSpPr txBox="1"/>
          <p:nvPr/>
        </p:nvSpPr>
        <p:spPr>
          <a:xfrm>
            <a:off x="11484864" y="29527012"/>
            <a:ext cx="9985248" cy="26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Disk-based pages: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save nodes to a file so the index survives restarts.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Concurrency: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many users searching and updating at once.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 b="1">
                <a:latin typeface="Garamond"/>
                <a:ea typeface="Garamond"/>
                <a:cs typeface="Garamond"/>
                <a:sym typeface="Garamond"/>
              </a:rPr>
              <a:t>Cloud service: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expose the index through a web API.</a:t>
            </a:r>
          </a:p>
        </p:txBody>
      </p:sp>
      <p:sp>
        <p:nvSpPr>
          <p:cNvPr id="516" name="Section: Menu Functionality"/>
          <p:cNvSpPr/>
          <p:nvPr/>
        </p:nvSpPr>
        <p:spPr>
          <a:xfrm>
            <a:off x="22274784" y="5641848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Menu Functionality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17" name="Menu text"/>
          <p:cNvSpPr txBox="1"/>
          <p:nvPr/>
        </p:nvSpPr>
        <p:spPr>
          <a:xfrm>
            <a:off x="22274784" y="6275984"/>
            <a:ext cx="9985248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Every operation is a numbered menu option. The status line shows the record count, the tree's order and its height.</a:t>
            </a:r>
          </a:p>
        </p:txBody>
      </p:sp>
      <p:pic>
        <p:nvPicPr>
          <p:cNvPr id="518" name="Menu screenshot" descr="t-menu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3701248" y="7967624"/>
            <a:ext cx="7132320" cy="4414660"/>
          </a:xfrm>
          <a:prstGeom prst="rect">
            <a:avLst/>
          </a:prstGeom>
        </p:spPr>
      </p:pic>
      <p:sp>
        <p:nvSpPr>
          <p:cNvPr id="518" name="Section: 1 &amp; 7: Load Data and Display the Tree"/>
          <p:cNvSpPr/>
          <p:nvPr/>
        </p:nvSpPr>
        <p:spPr>
          <a:xfrm>
            <a:off x="22274784" y="12546876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1 &amp; 7: Load Data and Display the Tree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19" name="Load text"/>
          <p:cNvSpPr txBox="1"/>
          <p:nvPr/>
        </p:nvSpPr>
        <p:spPr>
          <a:xfrm>
            <a:off x="22274784" y="13181012"/>
            <a:ext cx="9985248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Option 1 loads 24 sample records out of order, causing 11 node splits. Option 7 prints the tree level by level, then the linked leaf chain.</a:t>
            </a:r>
          </a:p>
        </p:txBody>
      </p:sp>
      <p:pic>
        <p:nvPicPr>
          <p:cNvPr id="520" name="Load and tree screenshot" descr="t-load-tre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274784" y="14872652"/>
            <a:ext cx="9985248" cy="3747404"/>
          </a:xfrm>
          <a:prstGeom prst="rect">
            <a:avLst/>
          </a:prstGeom>
        </p:spPr>
      </p:pic>
      <p:sp>
        <p:nvSpPr>
          <p:cNvPr id="520" name="Section: 3: Search by Record ID"/>
          <p:cNvSpPr/>
          <p:nvPr/>
        </p:nvSpPr>
        <p:spPr>
          <a:xfrm>
            <a:off x="22274784" y="18784649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3: Search by Record ID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1" name="Search text"/>
          <p:cNvSpPr txBox="1"/>
          <p:nvPr/>
        </p:nvSpPr>
        <p:spPr>
          <a:xfrm>
            <a:off x="22274784" y="19418786"/>
            <a:ext cx="9985248" cy="112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Option 3 prints the root-to-leaf path and the cost of the lookup: 3 node reads, found or not.</a:t>
            </a:r>
          </a:p>
        </p:txBody>
      </p:sp>
      <p:pic>
        <p:nvPicPr>
          <p:cNvPr id="522" name="Search screenshot" descr="t-search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274784" y="20592266"/>
            <a:ext cx="9985248" cy="2441110"/>
          </a:xfrm>
          <a:prstGeom prst="rect">
            <a:avLst/>
          </a:prstGeom>
        </p:spPr>
      </p:pic>
      <p:sp>
        <p:nvSpPr>
          <p:cNvPr id="522" name="Section: 4: Range Search"/>
          <p:cNvSpPr/>
          <p:nvPr/>
        </p:nvSpPr>
        <p:spPr>
          <a:xfrm>
            <a:off x="22274784" y="23197969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4: Range Search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3" name="Range text"/>
          <p:cNvSpPr txBox="1"/>
          <p:nvPr/>
        </p:nvSpPr>
        <p:spPr>
          <a:xfrm>
            <a:off x="22274784" y="23832105"/>
            <a:ext cx="9985248" cy="112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Option 4 descends once to the start of the range, then follows the leaf chain; reversed bounds are swapped.</a:t>
            </a:r>
          </a:p>
        </p:txBody>
      </p:sp>
      <p:pic>
        <p:nvPicPr>
          <p:cNvPr id="524" name="Range screenshot" descr="t-ran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274784" y="25005585"/>
            <a:ext cx="9985248" cy="4024969"/>
          </a:xfrm>
          <a:prstGeom prst="rect">
            <a:avLst/>
          </a:prstGeom>
        </p:spPr>
      </p:pic>
      <p:sp>
        <p:nvSpPr>
          <p:cNvPr id="524" name="Section: 9: Structural Self-Check"/>
          <p:cNvSpPr/>
          <p:nvPr/>
        </p:nvSpPr>
        <p:spPr>
          <a:xfrm>
            <a:off x="22274784" y="29195146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9: Structural Self-Check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5" name="Self-check text"/>
          <p:cNvSpPr txBox="1"/>
          <p:nvPr/>
        </p:nvSpPr>
        <p:spPr>
          <a:xfrm>
            <a:off x="22274784" y="29829283"/>
            <a:ext cx="9985248" cy="112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Option 9 re-checks every B+ tree rule on the live index.</a:t>
            </a:r>
          </a:p>
        </p:txBody>
      </p:sp>
      <p:pic>
        <p:nvPicPr>
          <p:cNvPr id="526" name="Self-check screenshot" descr="t-selfcheck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274784" y="31002763"/>
            <a:ext cx="9985248" cy="1050378"/>
          </a:xfrm>
          <a:prstGeom prst="rect">
            <a:avLst/>
          </a:prstGeom>
        </p:spPr>
      </p:pic>
      <p:sp>
        <p:nvSpPr>
          <p:cNvPr id="526" name="Section: 2: Add a Record (Node Splits)"/>
          <p:cNvSpPr/>
          <p:nvPr/>
        </p:nvSpPr>
        <p:spPr>
          <a:xfrm>
            <a:off x="33055560" y="5641848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2: Add a Record (Node Splits)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7" name="Insert text"/>
          <p:cNvSpPr txBox="1"/>
          <p:nvPr/>
        </p:nvSpPr>
        <p:spPr>
          <a:xfrm>
            <a:off x="33055560" y="6275984"/>
            <a:ext cx="9985248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Every field is validated first. Adding 1078 overfills a leaf, which splits and copies 1081 up; its parent then splits and moves 1081 into the root.</a:t>
            </a:r>
          </a:p>
        </p:txBody>
      </p:sp>
      <p:pic>
        <p:nvPicPr>
          <p:cNvPr id="528" name="Insert screenshot" descr="t-insert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293303" y="7967624"/>
            <a:ext cx="9509760" cy="4484194"/>
          </a:xfrm>
          <a:prstGeom prst="rect">
            <a:avLst/>
          </a:prstGeom>
        </p:spPr>
      </p:pic>
      <p:sp>
        <p:nvSpPr>
          <p:cNvPr id="528" name="Section: 6: Delete a Record (Merge &amp; Borrow)"/>
          <p:cNvSpPr/>
          <p:nvPr/>
        </p:nvSpPr>
        <p:spPr>
          <a:xfrm>
            <a:off x="33055560" y="12616410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6: Delete a Record (Merge &amp; Borrow)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9" name="Delete text"/>
          <p:cNvSpPr txBox="1"/>
          <p:nvPr/>
        </p:nvSpPr>
        <p:spPr>
          <a:xfrm>
            <a:off x="33055560" y="13250546"/>
            <a:ext cx="9985248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A leaf that drops below half full borrows a key from a sibling or merges with one; an emptied internal node is repaired the same way.</a:t>
            </a:r>
          </a:p>
        </p:txBody>
      </p:sp>
      <p:pic>
        <p:nvPicPr>
          <p:cNvPr id="530" name="Delete screenshot" descr="t-delet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293303" y="14942186"/>
            <a:ext cx="9509760" cy="4027038"/>
          </a:xfrm>
          <a:prstGeom prst="rect">
            <a:avLst/>
          </a:prstGeom>
        </p:spPr>
      </p:pic>
      <p:sp>
        <p:nvSpPr>
          <p:cNvPr id="530" name="Section: 10: Index Lookup vs Full Scan"/>
          <p:cNvSpPr/>
          <p:nvPr/>
        </p:nvSpPr>
        <p:spPr>
          <a:xfrm>
            <a:off x="33055560" y="19133816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10: Index Lookup vs Full Scan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31" name="Index vs scan screenshot" descr="t-scan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055560" y="19859393"/>
            <a:ext cx="9985248" cy="1991319"/>
          </a:xfrm>
          <a:prstGeom prst="rect">
            <a:avLst/>
          </a:prstGeom>
        </p:spPr>
      </p:pic>
      <p:sp>
        <p:nvSpPr>
          <p:cNvPr id="531" name="Section: 11: Scalability Experiment"/>
          <p:cNvSpPr/>
          <p:nvPr/>
        </p:nvSpPr>
        <p:spPr>
          <a:xfrm>
            <a:off x="33055560" y="22015304"/>
            <a:ext cx="9985248" cy="57927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11: Scalability Experiment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32" name="Scale text"/>
          <p:cNvSpPr txBox="1"/>
          <p:nvPr/>
        </p:nvSpPr>
        <p:spPr>
          <a:xfrm>
            <a:off x="33055560" y="22649440"/>
            <a:ext cx="9985248" cy="112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Lookups timed on 1K to 1M records against a linear scan.</a:t>
            </a:r>
          </a:p>
        </p:txBody>
      </p:sp>
      <p:pic>
        <p:nvPicPr>
          <p:cNvPr id="533" name="Scalability screenshot" descr="t-scal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055560" y="23822920"/>
            <a:ext cx="9985248" cy="23627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Default">
  <a:themeElements>
    <a:clrScheme name="1_Default 2">
      <a:dk1>
        <a:srgbClr val="000000"/>
      </a:dk1>
      <a:lt1>
        <a:srgbClr val="AABAC9"/>
      </a:lt1>
      <a:dk2>
        <a:srgbClr val="A7A7A7"/>
      </a:dk2>
      <a:lt2>
        <a:srgbClr val="535353"/>
      </a:lt2>
      <a:accent1>
        <a:srgbClr val="D7D7D7"/>
      </a:accent1>
      <a:accent2>
        <a:srgbClr val="006BD6"/>
      </a:accent2>
      <a:accent3>
        <a:srgbClr val="D2D9E1"/>
      </a:accent3>
      <a:accent4>
        <a:srgbClr val="000000"/>
      </a:accent4>
      <a:accent5>
        <a:srgbClr val="E8E8E8"/>
      </a:accent5>
      <a:accent6>
        <a:srgbClr val="0060C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AABAC9"/>
      </a:lt1>
      <a:dk2>
        <a:srgbClr val="A7A7A7"/>
      </a:dk2>
      <a:lt2>
        <a:srgbClr val="535353"/>
      </a:lt2>
      <a:accent1>
        <a:srgbClr val="D7D7D7"/>
      </a:accent1>
      <a:accent2>
        <a:srgbClr val="003466"/>
      </a:accent2>
      <a:accent3>
        <a:srgbClr val="D0D7DF"/>
      </a:accent3>
      <a:accent4>
        <a:srgbClr val="707070"/>
      </a:accent4>
      <a:accent5>
        <a:srgbClr val="E6E6E6"/>
      </a:accent5>
      <a:accent6>
        <a:srgbClr val="002F5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7D7D7"/>
      </a:accent1>
      <a:accent2>
        <a:srgbClr val="003466"/>
      </a:accent2>
      <a:accent3>
        <a:srgbClr val="D0D7DF"/>
      </a:accent3>
      <a:accent4>
        <a:srgbClr val="707070"/>
      </a:accent4>
      <a:accent5>
        <a:srgbClr val="E6E6E6"/>
      </a:accent5>
      <a:accent6>
        <a:srgbClr val="002F5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979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Garamond</vt:lpstr>
      <vt:lpstr>Helvetica Neue</vt:lpstr>
      <vt:lpstr>Times New Roman</vt:lpstr>
      <vt:lpstr>Arial</vt:lpstr>
      <vt:lpstr>Arial Black</vt:lpstr>
      <vt:lpstr>1_Default</vt:lpstr>
      <vt:lpstr>Default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Govindaswamy, Victor</dc:creator>
  <cp:lastModifiedBy>Victor Govindaswamy</cp:lastModifiedBy>
  <cp:revision>13</cp:revision>
  <dcterms:modified xsi:type="dcterms:W3CDTF">2024-04-05T00:42:30Z</dcterms:modified>
</cp:coreProperties>
</file>