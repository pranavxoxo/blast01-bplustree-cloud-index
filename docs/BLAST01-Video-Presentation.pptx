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a6c9406-3757-3c77-8c5f-efd64df340c6}">
          <p14:sldIdLst>
            <p14:sldId id="256"/>
            <p14:sldId id="257"/>
          </p14:sldIdLst>
        </p14:section>
        <p14:section name="The B+ tree" id="{ae54f065-b28c-57ac-c64d-802773f199a6}">
          <p14:sldIdLst>
            <p14:sldId id="258"/>
            <p14:sldId id="259"/>
          </p14:sldIdLst>
        </p14:section>
        <p14:section name="Operations" id="{dad8944b-57ba-21e0-c98f-618ab636b639}">
          <p14:sldIdLst>
            <p14:sldId id="260"/>
            <p14:sldId id="261"/>
            <p14:sldId id="262"/>
          </p14:sldIdLst>
        </p14:section>
        <p14:section name="Complexity" id="{55c71c8f-7d0d-3fd1-b25c-485e1b840c8c}">
          <p14:sldIdLst>
            <p14:sldId id="263"/>
          </p14:sldIdLst>
        </p14:section>
        <p14:section name="Real world and cloud" id="{6e7abba2-6aca-bbb9-ed37-43bb3a7126ac}">
          <p14:sldIdLst>
            <p14:sldId id="264"/>
            <p14:sldId id="265"/>
          </p14:sldIdLst>
        </p14:section>
        <p14:section name="C++ application" id="{26aa9a92-8b1e-1c1a-4289-97ac4cd1929e}">
          <p14:sldIdLst>
            <p14:sldId id="266"/>
            <p14:sldId id="267"/>
          </p14:sldIdLst>
        </p14:section>
        <p14:section name="Output walkthrough" id="{c5df4832-0831-e071-6dc5-eac1f07f851e}">
          <p14:sldIdLst>
            <p14:sldId id="268"/>
            <p14:sldId id="269"/>
            <p14:sldId id="270"/>
            <p14:sldId id="271"/>
            <p14:sldId id="272"/>
          </p14:sldIdLst>
        </p14:section>
        <p14:section name="Results" id="{5871314a-c7de-cf76-42a5-1b34a7f33cc8}">
          <p14:sldIdLst>
            <p14:sldId id="273"/>
          </p14:sldIdLst>
        </p14:section>
        <p14:section name="Wrap-up" id="{1d2a852f-c6e5-4d67-cbeb-c3b4db9b9930}">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Nanoseconds per lookup (log scale)</a:t>
            </a:r>
          </a:p>
        </c:rich>
      </c:tx>
      <c:layout/>
      <c:overlay val="0"/>
    </c:title>
    <c:autoTitleDeleted val="0"/>
    <c:plotArea>
      <c:layout/>
      <c:barChart>
        <c:barDir val="col"/>
        <c:grouping val="clustered"/>
        <c:varyColors val="0"/>
        <c:ser>
          <c:idx val="0"/>
          <c:order val="0"/>
          <c:tx>
            <c:strRef>
              <c:f>Sheet1!$B$1</c:f>
              <c:strCache>
                <c:ptCount val="1"/>
                <c:pt idx="0">
                  <c:v>B+ tree index (order 128)</c:v>
                </c:pt>
              </c:strCache>
            </c:strRef>
          </c:tx>
          <c:spPr>
            <a:solidFill>
              <a:srgbClr val="0F766E"/>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1K</c:v>
                  </c:pt>
                  <c:pt idx="1">
                    <c:v>10K</c:v>
                  </c:pt>
                  <c:pt idx="2">
                    <c:v>100K</c:v>
                  </c:pt>
                  <c:pt idx="3">
                    <c:v>1M</c:v>
                  </c:pt>
                </c:lvl>
              </c:multiLvlStrCache>
            </c:multiLvlStrRef>
          </c:cat>
          <c:val>
            <c:numRef>
              <c:f>Sheet1!$B$2:$B$5</c:f>
              <c:numCache>
                <c:formatCode>General</c:formatCode>
                <c:ptCount val="4"/>
                <c:pt idx="0">
                  <c:v>54.6</c:v>
                </c:pt>
                <c:pt idx="1">
                  <c:v>109.3</c:v>
                </c:pt>
                <c:pt idx="2">
                  <c:v>147.3</c:v>
                </c:pt>
                <c:pt idx="3">
                  <c:v>296</c:v>
                </c:pt>
              </c:numCache>
            </c:numRef>
          </c:val>
        </c:ser>
        <c:ser>
          <c:idx val="1"/>
          <c:order val="1"/>
          <c:tx>
            <c:strRef>
              <c:f>Sheet1!$C$1</c:f>
              <c:strCache>
                <c:ptCount val="1"/>
                <c:pt idx="0">
                  <c:v>Linear scan</c:v>
                </c:pt>
              </c:strCache>
            </c:strRef>
          </c:tx>
          <c:spPr>
            <a:solidFill>
              <a:srgbClr val="94A3B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1K</c:v>
                  </c:pt>
                  <c:pt idx="1">
                    <c:v>10K</c:v>
                  </c:pt>
                  <c:pt idx="2">
                    <c:v>100K</c:v>
                  </c:pt>
                  <c:pt idx="3">
                    <c:v>1M</c:v>
                  </c:pt>
                </c:lvl>
              </c:multiLvlStrCache>
            </c:multiLvlStrRef>
          </c:cat>
          <c:val>
            <c:numRef>
              <c:f>Sheet1!$C$2:$C$5</c:f>
              <c:numCache>
                <c:formatCode>General</c:formatCode>
                <c:ptCount val="4"/>
                <c:pt idx="0">
                  <c:v>110.4</c:v>
                </c:pt>
                <c:pt idx="1">
                  <c:v>1035.4</c:v>
                </c:pt>
                <c:pt idx="2">
                  <c:v>9675.6</c:v>
                </c:pt>
                <c:pt idx="3">
                  <c:v>108097.7</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475569"/>
                    </a:solidFill>
                    <a:latin typeface="+mn-lt"/>
                  </a:defRPr>
                </a:pPr>
                <a:r>
                  <a:rPr sz="1200" b="0" i="0" u="none" strike="noStrike">
                    <a:solidFill>
                      <a:srgbClr val="475569"/>
                    </a:solidFill>
                    <a:latin typeface="+mn-lt"/>
                  </a:rPr>
                  <a:t>Records in the index</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mn-lt"/>
              </a:defRPr>
            </a:pPr>
            <a:endParaRPr lang="en-US"/>
          </a:p>
        </c:txPr>
        <c:crossAx val="2094734552"/>
        <c:crosses val="autoZero"/>
        <c:auto val="1"/>
        <c:lblAlgn val="ctr"/>
        <c:noMultiLvlLbl val="1"/>
      </c:catAx>
      <c:valAx>
        <c:axId val="2094734552"/>
        <c:scaling>
          <c:logBase val="10"/>
          <c:orientation val="minMax"/>
          <c:max val="1000000"/>
          <c:min val="10"/>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seconds]
Hi, I'm Pranav Anil Singh, and this is my BLAST 01 project for CSC-6021, Data Structures and Algorithms II, with Dr. Victor Govindaswamy.
My data structure is the B+ tree, and my emerging-technology area is Cloud and Databases. I'll explain how a B+ tree works, why cloud databases depend on it, and then walk through the C++ application I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Here's the problem. A cloud provider can hold billions of records, and when someone asks for one by its ID, they expect an answer in milliseconds.
Without an index, the only option is a full table scan: read every row until you find it. For an ID that doesn't exist, that's every row — a million reads for a million records.
With a B+ tree index, my program finds any of those million records in just three node reads — about 365 times faster.
And in the cloud that gap matters even more, because every read is a round trip over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seconds]
A B+ tree is a balanced search tree where each node holds many sorted keys and has many children — not just two, like a binary search tree.
This is the real tree my program builds from 24 sample records. It has order 4, so each node holds at most three keys.
The blue internal nodes are signposts: they only hold separator keys and pointers. The root says: below 1034, go left; from 1034 to 1058, go to the middle; otherwise, go right.
The green leaves hold the keys and the actual records, and they're linked left to right in sorted order.
Every node except the root stays at least half full, and every leaf is at the same depth — so any lookup here reads exactly three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How is that different from a plain B-tree?
A B-tree, on the left, stores records in every node. A B+ tree keeps its internal nodes as pure signposts — notice 30 and 50 appear twice — and puts all of the data in linked leaves.
That means more keys fit in each page, so the tree is shorter, and a range query just finds the first leaf and walks sideways. That's why databases use the B+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Search is one walk from the root down to a leaf.
To find 1052: at the root it's between 1034 and 1058, so I take the middle pointer. At the next node it's at least 1047, so I take the last pointer — and I land on the leaf holding 1047 and 1052. Three node reads.
A range search, like 1020 to 1050, descends once to where 1020 would be, then follows the next pointers until it passes 1050. That's eight records, with no climbing back up the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Insertion is where the balancing happens. Here I insert 1078.
Its leaf already has three keys — the maximum — so it overflows and splits into two leaves. The first key of the new leaf, 1081, is COPIED up to the parent. Copied, because the leaves must keep all the data.
Now the parent has four keys, so it splits too, and its middle key, 1081, is MOVED up into the root, because internal keys are only signposts.
The tree only grows taller when the root itself splits — which is why every leaf always stays at the same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Deletion is the mirror image: every node except the root must stay at least half full.
Deleting 1044 leaves its leaf with only one key. Neither sibling can spare a key, so the two leaves merge, and their separator is removed from the parent.
Deleting 1052 causes another merge — and now that parent is empty. Its left sibling can spare a key, so the keys rotate through the grandparent: 1034 comes down and 1021 goes up.
My program always tries to borrow first, and only merges when it has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Every operation is a single trip down the tree.
Search, insert and delete all cost O(log base m of n) node reads, with at most one split or merge per level. A range query adds k over m leaves for k results. And space is O(n), because nodes are between half full and completely full.
The base of that logarithm is the key: with an order of 500, just three levels can index about 125 million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And B+ trees are used everywhere.
MySQL's InnoDB stores its indexes as B-trees, with the records in 16-kilobyte leaf pages. PostgreSQL's default index is a B-tree. Microsoft documents SQL Server and Azure SQL indexes as B+ trees. SQLite, on nearly every phone, keeps all table data in the leaves. Linux's Btrfs is literally the B-tree file system.
And Amazon's DynamoDB paper says each storage node keeps its partition data in a B-tree.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Here's why the cloud depends on it.
A request for record 1052 reaches the query engine, which chooses between the index and a full scan. The root and internal pages are tiny, so they stay cached in memory, and usually only ONE leaf page has to be fetched from distributed storage. In Amazon Aurora, that storage keeps six copies across three availability zones, so every fetch is a network trip.
Without the index, every page would be read. And the linked leaves make queries like "all of this tenant's backups between two IDs"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My application, CloudVault Record Index, simulates that kind of index.
Each record is a cloud resource — tenant, resource type, region, size and creation date — keyed by a numeric ID.
It has twelve menu options, from search and range search to insert, delete, statistics and a million-record benchmark. It prints the search path and every split and merge as they happen, and every input is 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The design keeps the data structure separate from the menu.
BPlusTree contains a private Node struct, the recursive insert and delete logic, and a validate method that checks every B+ tree rule. CloudRecord is what the leaves store, and SearchStats reports the cost of each lookup.
CloudIndexApp is the menu, and it owns the tree through a unique pointer. All input goes through one validated input namespace.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Now let's look at the actual output, step by step.
First, option 1 loads the 24 sample records. They're inserted out of order on purpose, so the tree has to split eleven times while it's being built, and ends up with a height of three.
Option 7 then prints the tree level by level: the root on level 0, the internal nodes on level 1, and the ten leaves on level 2. Underneath is the leaf chain — every leaf pointing to the next one — which is what range searches use. It's exactly the tree from my diagram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Option 3 searches for record 1052. The program prints the path it took: the root, then an internal node, then the leaf. The green line is the record it found — with its tenant, resource type, region, size and date. And the cost line says three node reads and six key comparisons.
Below that, option 4 runs a range search from 1020 to 1050. It returns eight records in sorted order, adds up their total size, and reports the cost: three node reads to reach the first leaf, then five leaves walked along the next pointers.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Option 2 adds record 1078, and you can see the input validation in red: a tenant name with a space, a size that isn't a number, and February 30th are all rejected and asked for again.
Once the record is valid, the yellow lines show the structural changes. First the leaf overflowed and split, copying 1081 up. Then the internal node overflowed and split, moving 1081 up.
Option 7 confirms it: 1081 is now in the root, and the tree has eleven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Option 6 deletes records. Deleting 1044 makes its leaf underflow, so the two leaves merge. Deleting 1038 needs no change, because its leaf is still at least half full.
Deleting 1052 causes another merge, and then the yellow line shows the empty internal node borrowing a key from its left sibling, through the parent.
Option 7 shows the result: the root is now 1021, 1058 and 1081, and the leaves still form one sorted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Here are some edge cases. Searching an empty index gives a message instead of a crash. Typing "abc" at the menu is rejected. A duplicate ID is refused, and deleting an ID that doesn't exist deletes nothing.
Option 10 compares an index lookup with a full table scan for a missing ID: the index proves it's absent in three node reads, while the scan has to read all 22 rows.
And option 9's self-check passes. On top of that, my test program does 22 randomized runs of 4,000 operations each against std::map, validating after every operation — and they all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Option 11 is my scalability experiment. It builds trees from a thousand up to a million random IDs, and times lookups against a linear scan. The chart uses a log scale.
The scan, in grey, gets about ten times slower for every ten times more data. The B+ tree, in green, barely moves: a thousand times more data added just one level, and at a million records it was 365 times faster.
With order 4 instead of 128, the same million records need 13 levels instead of 3 — and on cloud storage, each level is another network trip. That's why real databases use wide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seconds]
To wrap up: a B+ tree keeps its data in linked leaves, and uses wide, half-full nodes to stay shallow and balanced. That gives logarithmic search, cheap range queries and very few storage reads — exactly what cloud databases need.
The code, the report and all the diagrams are on my GitHub, linked here and in the description. Thanks for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BLAST 01  ·  B+ Trees in Cloud Databases  ·  Pranav Anil Singh</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6400800" cy="15544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611880"/>
            <a:ext cx="6400800" cy="54864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DIVIDER">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2606040"/>
            <a:ext cx="10698480" cy="54864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hyperlink" Target="https://github.com/Pranavxoxo/BLAST01-BPlusTree-Cloud-Index" TargetMode="Externa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01</a:t>
            </a:r>
            <a:endParaRPr lang="en-US" sz="1100" dirty="0"/>
          </a:p>
        </p:txBody>
      </p:sp>
      <p:sp>
        <p:nvSpPr>
          <p:cNvPr id="4" name="kicker-label-cell"/>
          <p:cNvSpPr/>
          <p:nvPr/>
        </p:nvSpPr>
        <p:spPr>
          <a:xfrm>
            <a:off x="1005840" y="274320"/>
            <a:ext cx="1620317" cy="274320"/>
          </a:xfrm>
          <a:prstGeom prst="rect">
            <a:avLst/>
          </a:prstGeom>
          <a:solidFill>
            <a:schemeClr val="tx1"/>
          </a:solidFill>
          <a:ln w="12700">
            <a:solidFill>
              <a:schemeClr val="accent2"/>
            </a:solidFill>
            <a:prstDash val="solid"/>
          </a:ln>
        </p:spPr>
      </p:sp>
      <p:sp>
        <p:nvSpPr>
          <p:cNvPr id="5" name="kicker-label"/>
          <p:cNvSpPr txBox="1"/>
          <p:nvPr/>
        </p:nvSpPr>
        <p:spPr>
          <a:xfrm>
            <a:off x="1005840" y="274320"/>
            <a:ext cx="1620317" cy="274320"/>
          </a:xfrm>
          <a:prstGeom prst="rect">
            <a:avLst/>
          </a:prstGeom>
          <a:noFill/>
          <a:ln/>
        </p:spPr>
        <p:txBody>
          <a:bodyPr wrap="square" lIns="0" tIns="0" rIns="0" bIns="0" rtlCol="0" anchor="ctr"/>
          <a:lstStyle/>
          <a:p>
            <a:pPr algn="ctr" indent="0" marL="0">
              <a:buNone/>
            </a:pPr>
            <a:r>
              <a:rPr lang="en-US" sz="1100" b="1" spc="100" kern="0" dirty="0">
                <a:solidFill>
                  <a:schemeClr val="bg2"/>
                </a:solidFill>
              </a:rPr>
              <a:t>BLAST · CSC-6021</a:t>
            </a:r>
            <a:endParaRPr lang="en-US" sz="1100" dirty="0"/>
          </a:p>
        </p:txBody>
      </p:sp>
      <p:sp>
        <p:nvSpPr>
          <p:cNvPr id="6" name="Text 0"/>
          <p:cNvSpPr/>
          <p:nvPr>
            <p:ph idx="100" type="title" hasCustomPrompt="1"/>
          </p:nvPr>
        </p:nvSpPr>
        <p:spPr>
          <a:xfrm>
            <a:off x="731520" y="1920240"/>
            <a:ext cx="6400800" cy="1554480"/>
          </a:xfrm>
          <a:prstGeom prst="rect">
            <a:avLst/>
          </a:prstGeom>
          <a:noFill/>
          <a:ln/>
        </p:spPr>
        <p:txBody>
          <a:bodyPr wrap="square" lIns="0" tIns="0" rIns="0" bIns="0" rtlCol="0" anchor="b"/>
          <a:lstStyle/>
          <a:p>
            <a:pPr algn="l" indent="0" marL="0">
              <a:buNone/>
            </a:pPr>
            <a:r>
              <a:rPr lang="en-US" sz="4400" b="1" dirty="0">
                <a:solidFill>
                  <a:schemeClr val="bg1"/>
                </a:solidFill>
              </a:rPr>
              <a:t>B+ Trees in Cloud Databases</a:t>
            </a:r>
            <a:endParaRPr lang="en-US" sz="4400" dirty="0"/>
          </a:p>
        </p:txBody>
      </p:sp>
      <p:sp>
        <p:nvSpPr>
          <p:cNvPr id="7" name="Text 0"/>
          <p:cNvSpPr/>
          <p:nvPr>
            <p:ph idx="101" type="body" hasCustomPrompt="1"/>
          </p:nvPr>
        </p:nvSpPr>
        <p:spPr>
          <a:xfrm>
            <a:off x="731520" y="3611880"/>
            <a:ext cx="6400800" cy="548640"/>
          </a:xfrm>
          <a:prstGeom prst="rect">
            <a:avLst/>
          </a:prstGeom>
          <a:noFill/>
          <a:ln/>
        </p:spPr>
        <p:txBody>
          <a:bodyPr wrap="square" lIns="0" tIns="0" rIns="0" bIns="0" rtlCol="0" anchor="t"/>
          <a:lstStyle/>
          <a:p>
            <a:pPr algn="l" indent="0" marL="0">
              <a:buNone/>
            </a:pPr>
            <a:r>
              <a:rPr lang="en-US" sz="2200" dirty="0">
                <a:solidFill>
                  <a:schemeClr val="bg2"/>
                </a:solidFill>
              </a:rPr>
              <a:t>Indexed cloud-record search in C++</a:t>
            </a:r>
            <a:endParaRPr lang="en-US" sz="2200" dirty="0"/>
          </a:p>
        </p:txBody>
      </p:sp>
      <p:sp>
        <p:nvSpPr>
          <p:cNvPr id="8" name="author"/>
          <p:cNvSpPr txBox="1"/>
          <p:nvPr/>
        </p:nvSpPr>
        <p:spPr>
          <a:xfrm>
            <a:off x="731520" y="5120640"/>
            <a:ext cx="6583680" cy="731520"/>
          </a:xfrm>
          <a:prstGeom prst="rect">
            <a:avLst/>
          </a:prstGeom>
          <a:noFill/>
          <a:ln/>
        </p:spPr>
        <p:txBody>
          <a:bodyPr wrap="square" lIns="0" tIns="0" rIns="0" bIns="0" rtlCol="0" anchor="t"/>
          <a:lstStyle/>
          <a:p>
            <a:pPr indent="0" marL="0">
              <a:buNone/>
            </a:pPr>
            <a:r>
              <a:rPr lang="en-US" sz="1600" b="1" dirty="0">
                <a:solidFill>
                  <a:schemeClr val="bg2"/>
                </a:solidFill>
              </a:rPr>
              <a:t>Pranav Anil Singh</a:t>
            </a:r>
            <a:endParaRPr lang="en-US" sz="1600" dirty="0"/>
          </a:p>
          <a:p>
            <a:pPr indent="0" marL="0">
              <a:buNone/>
            </a:pPr>
            <a:r>
              <a:rPr lang="en-US" sz="1600" dirty="0">
                <a:solidFill>
                  <a:schemeClr val="bg2"/>
                </a:solidFill>
              </a:rPr>
              <a:t>CSC-6021 Data Structures and Algorithms II  ·  Dr. Victor Govindaswamy</a:t>
            </a:r>
            <a:endParaRPr lang="en-US" sz="1600" dirty="0"/>
          </a:p>
        </p:txBody>
      </p:sp>
      <p:sp>
        <p:nvSpPr>
          <p:cNvPr id="9" name="title-edge-0"/>
          <p:cNvSpPr/>
          <p:nvPr/>
        </p:nvSpPr>
        <p:spPr>
          <a:xfrm flipH="1">
            <a:off x="8156448" y="2432304"/>
            <a:ext cx="850392" cy="1225296"/>
          </a:xfrm>
          <a:prstGeom prst="line">
            <a:avLst/>
          </a:prstGeom>
          <a:noFill/>
          <a:ln w="19050">
            <a:solidFill>
              <a:srgbClr val="94A3B8"/>
            </a:solidFill>
            <a:prstDash val="solid"/>
          </a:ln>
        </p:spPr>
      </p:sp>
      <p:sp>
        <p:nvSpPr>
          <p:cNvPr id="10" name="title-edge-1"/>
          <p:cNvSpPr/>
          <p:nvPr/>
        </p:nvSpPr>
        <p:spPr>
          <a:xfrm>
            <a:off x="9573768" y="2432304"/>
            <a:ext cx="914" cy="1225296"/>
          </a:xfrm>
          <a:prstGeom prst="line">
            <a:avLst/>
          </a:prstGeom>
          <a:noFill/>
          <a:ln w="19050">
            <a:solidFill>
              <a:srgbClr val="94A3B8"/>
            </a:solidFill>
            <a:prstDash val="solid"/>
          </a:ln>
        </p:spPr>
      </p:sp>
      <p:sp>
        <p:nvSpPr>
          <p:cNvPr id="11" name="title-edge-2"/>
          <p:cNvSpPr/>
          <p:nvPr/>
        </p:nvSpPr>
        <p:spPr>
          <a:xfrm>
            <a:off x="10140696" y="2432304"/>
            <a:ext cx="850392" cy="1225296"/>
          </a:xfrm>
          <a:prstGeom prst="line">
            <a:avLst/>
          </a:prstGeom>
          <a:noFill/>
          <a:ln w="19050">
            <a:solidFill>
              <a:srgbClr val="94A3B8"/>
            </a:solidFill>
            <a:prstDash val="solid"/>
          </a:ln>
        </p:spPr>
      </p:sp>
      <p:sp>
        <p:nvSpPr>
          <p:cNvPr id="12" name="title-root-cell-0"/>
          <p:cNvSpPr/>
          <p:nvPr/>
        </p:nvSpPr>
        <p:spPr>
          <a:xfrm>
            <a:off x="9006840" y="2011680"/>
            <a:ext cx="566928" cy="420624"/>
          </a:xfrm>
          <a:prstGeom prst="rect">
            <a:avLst/>
          </a:prstGeom>
          <a:solidFill>
            <a:schemeClr val="accent2"/>
          </a:solidFill>
          <a:ln w="12700">
            <a:solidFill>
              <a:schemeClr val="bg1"/>
            </a:solidFill>
            <a:prstDash val="solid"/>
          </a:ln>
        </p:spPr>
      </p:sp>
      <p:sp>
        <p:nvSpPr>
          <p:cNvPr id="13" name="title-root-key-0"/>
          <p:cNvSpPr txBox="1"/>
          <p:nvPr/>
        </p:nvSpPr>
        <p:spPr>
          <a:xfrm>
            <a:off x="9006840" y="2011680"/>
            <a:ext cx="566928" cy="420624"/>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1034</a:t>
            </a:r>
            <a:endParaRPr lang="en-US" sz="1400" dirty="0"/>
          </a:p>
        </p:txBody>
      </p:sp>
      <p:sp>
        <p:nvSpPr>
          <p:cNvPr id="14" name="title-root-cell-1"/>
          <p:cNvSpPr/>
          <p:nvPr/>
        </p:nvSpPr>
        <p:spPr>
          <a:xfrm>
            <a:off x="9573768" y="2011680"/>
            <a:ext cx="566928" cy="420624"/>
          </a:xfrm>
          <a:prstGeom prst="rect">
            <a:avLst/>
          </a:prstGeom>
          <a:solidFill>
            <a:schemeClr val="accent2"/>
          </a:solidFill>
          <a:ln w="12700">
            <a:solidFill>
              <a:schemeClr val="bg1"/>
            </a:solidFill>
            <a:prstDash val="solid"/>
          </a:ln>
        </p:spPr>
      </p:sp>
      <p:sp>
        <p:nvSpPr>
          <p:cNvPr id="15" name="title-root-key-1"/>
          <p:cNvSpPr txBox="1"/>
          <p:nvPr/>
        </p:nvSpPr>
        <p:spPr>
          <a:xfrm>
            <a:off x="9573768" y="2011680"/>
            <a:ext cx="566928" cy="420624"/>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1058</a:t>
            </a:r>
            <a:endParaRPr lang="en-US" sz="1400" dirty="0"/>
          </a:p>
        </p:txBody>
      </p:sp>
      <p:sp>
        <p:nvSpPr>
          <p:cNvPr id="16" name="title-leaf-0-cell-0"/>
          <p:cNvSpPr/>
          <p:nvPr/>
        </p:nvSpPr>
        <p:spPr>
          <a:xfrm>
            <a:off x="7589520" y="3657600"/>
            <a:ext cx="566928" cy="420624"/>
          </a:xfrm>
          <a:prstGeom prst="rect">
            <a:avLst/>
          </a:prstGeom>
          <a:solidFill>
            <a:schemeClr val="accent1"/>
          </a:solidFill>
          <a:ln w="12700">
            <a:solidFill>
              <a:schemeClr val="bg1"/>
            </a:solidFill>
            <a:prstDash val="solid"/>
          </a:ln>
        </p:spPr>
      </p:sp>
      <p:sp>
        <p:nvSpPr>
          <p:cNvPr id="17" name="title-leaf-0-key-0"/>
          <p:cNvSpPr txBox="1"/>
          <p:nvPr/>
        </p:nvSpPr>
        <p:spPr>
          <a:xfrm>
            <a:off x="7589520" y="3657600"/>
            <a:ext cx="566928" cy="420624"/>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1003</a:t>
            </a:r>
            <a:endParaRPr lang="en-US" sz="1400" dirty="0"/>
          </a:p>
        </p:txBody>
      </p:sp>
      <p:sp>
        <p:nvSpPr>
          <p:cNvPr id="18" name="title-leaf-0-cell-1"/>
          <p:cNvSpPr/>
          <p:nvPr/>
        </p:nvSpPr>
        <p:spPr>
          <a:xfrm>
            <a:off x="8156448" y="3657600"/>
            <a:ext cx="566928" cy="420624"/>
          </a:xfrm>
          <a:prstGeom prst="rect">
            <a:avLst/>
          </a:prstGeom>
          <a:solidFill>
            <a:schemeClr val="accent1"/>
          </a:solidFill>
          <a:ln w="12700">
            <a:solidFill>
              <a:schemeClr val="bg1"/>
            </a:solidFill>
            <a:prstDash val="solid"/>
          </a:ln>
        </p:spPr>
      </p:sp>
      <p:sp>
        <p:nvSpPr>
          <p:cNvPr id="19" name="title-leaf-0-key-1"/>
          <p:cNvSpPr txBox="1"/>
          <p:nvPr/>
        </p:nvSpPr>
        <p:spPr>
          <a:xfrm>
            <a:off x="8156448" y="3657600"/>
            <a:ext cx="566928" cy="420624"/>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1005</a:t>
            </a:r>
            <a:endParaRPr lang="en-US" sz="1400" dirty="0"/>
          </a:p>
        </p:txBody>
      </p:sp>
      <p:sp>
        <p:nvSpPr>
          <p:cNvPr id="20" name="title-leaf-link-0"/>
          <p:cNvSpPr/>
          <p:nvPr/>
        </p:nvSpPr>
        <p:spPr>
          <a:xfrm>
            <a:off x="8750808" y="3867912"/>
            <a:ext cx="228600" cy="0"/>
          </a:xfrm>
          <a:prstGeom prst="line">
            <a:avLst/>
          </a:prstGeom>
          <a:noFill/>
          <a:ln w="22225">
            <a:solidFill>
              <a:srgbClr val="5EEAD4"/>
            </a:solidFill>
            <a:prstDash val="solid"/>
            <a:tailEnd type="triangle"/>
          </a:ln>
        </p:spPr>
      </p:sp>
      <p:sp>
        <p:nvSpPr>
          <p:cNvPr id="21" name="title-leaf-1-cell-0"/>
          <p:cNvSpPr/>
          <p:nvPr/>
        </p:nvSpPr>
        <p:spPr>
          <a:xfrm>
            <a:off x="9006840" y="3657600"/>
            <a:ext cx="566928" cy="420624"/>
          </a:xfrm>
          <a:prstGeom prst="rect">
            <a:avLst/>
          </a:prstGeom>
          <a:solidFill>
            <a:schemeClr val="accent1"/>
          </a:solidFill>
          <a:ln w="12700">
            <a:solidFill>
              <a:schemeClr val="bg1"/>
            </a:solidFill>
            <a:prstDash val="solid"/>
          </a:ln>
        </p:spPr>
      </p:sp>
      <p:sp>
        <p:nvSpPr>
          <p:cNvPr id="22" name="title-leaf-1-key-0"/>
          <p:cNvSpPr txBox="1"/>
          <p:nvPr/>
        </p:nvSpPr>
        <p:spPr>
          <a:xfrm>
            <a:off x="9006840" y="3657600"/>
            <a:ext cx="566928" cy="420624"/>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1034</a:t>
            </a:r>
            <a:endParaRPr lang="en-US" sz="1400" dirty="0"/>
          </a:p>
        </p:txBody>
      </p:sp>
      <p:sp>
        <p:nvSpPr>
          <p:cNvPr id="23" name="title-leaf-1-cell-1"/>
          <p:cNvSpPr/>
          <p:nvPr/>
        </p:nvSpPr>
        <p:spPr>
          <a:xfrm>
            <a:off x="9573768" y="3657600"/>
            <a:ext cx="566928" cy="420624"/>
          </a:xfrm>
          <a:prstGeom prst="rect">
            <a:avLst/>
          </a:prstGeom>
          <a:solidFill>
            <a:schemeClr val="accent1"/>
          </a:solidFill>
          <a:ln w="12700">
            <a:solidFill>
              <a:schemeClr val="bg1"/>
            </a:solidFill>
            <a:prstDash val="solid"/>
          </a:ln>
        </p:spPr>
      </p:sp>
      <p:sp>
        <p:nvSpPr>
          <p:cNvPr id="24" name="title-leaf-1-key-1"/>
          <p:cNvSpPr txBox="1"/>
          <p:nvPr/>
        </p:nvSpPr>
        <p:spPr>
          <a:xfrm>
            <a:off x="9573768" y="3657600"/>
            <a:ext cx="566928" cy="420624"/>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1038</a:t>
            </a:r>
            <a:endParaRPr lang="en-US" sz="1400" dirty="0"/>
          </a:p>
        </p:txBody>
      </p:sp>
      <p:sp>
        <p:nvSpPr>
          <p:cNvPr id="25" name="title-leaf-link-1"/>
          <p:cNvSpPr/>
          <p:nvPr/>
        </p:nvSpPr>
        <p:spPr>
          <a:xfrm>
            <a:off x="10168128" y="3867912"/>
            <a:ext cx="228600" cy="0"/>
          </a:xfrm>
          <a:prstGeom prst="line">
            <a:avLst/>
          </a:prstGeom>
          <a:noFill/>
          <a:ln w="22225">
            <a:solidFill>
              <a:srgbClr val="5EEAD4"/>
            </a:solidFill>
            <a:prstDash val="solid"/>
            <a:tailEnd type="triangle"/>
          </a:ln>
        </p:spPr>
      </p:sp>
      <p:sp>
        <p:nvSpPr>
          <p:cNvPr id="26" name="title-leaf-2-cell-0"/>
          <p:cNvSpPr/>
          <p:nvPr/>
        </p:nvSpPr>
        <p:spPr>
          <a:xfrm>
            <a:off x="10424160" y="3657600"/>
            <a:ext cx="566928" cy="420624"/>
          </a:xfrm>
          <a:prstGeom prst="rect">
            <a:avLst/>
          </a:prstGeom>
          <a:solidFill>
            <a:schemeClr val="accent1"/>
          </a:solidFill>
          <a:ln w="12700">
            <a:solidFill>
              <a:schemeClr val="bg1"/>
            </a:solidFill>
            <a:prstDash val="solid"/>
          </a:ln>
        </p:spPr>
      </p:sp>
      <p:sp>
        <p:nvSpPr>
          <p:cNvPr id="27" name="title-leaf-2-key-0"/>
          <p:cNvSpPr txBox="1"/>
          <p:nvPr/>
        </p:nvSpPr>
        <p:spPr>
          <a:xfrm>
            <a:off x="10424160" y="3657600"/>
            <a:ext cx="566928" cy="420624"/>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1058</a:t>
            </a:r>
            <a:endParaRPr lang="en-US" sz="1400" dirty="0"/>
          </a:p>
        </p:txBody>
      </p:sp>
      <p:sp>
        <p:nvSpPr>
          <p:cNvPr id="28" name="title-leaf-2-cell-1"/>
          <p:cNvSpPr/>
          <p:nvPr/>
        </p:nvSpPr>
        <p:spPr>
          <a:xfrm>
            <a:off x="10991088" y="3657600"/>
            <a:ext cx="566928" cy="420624"/>
          </a:xfrm>
          <a:prstGeom prst="rect">
            <a:avLst/>
          </a:prstGeom>
          <a:solidFill>
            <a:schemeClr val="accent1"/>
          </a:solidFill>
          <a:ln w="12700">
            <a:solidFill>
              <a:schemeClr val="bg1"/>
            </a:solidFill>
            <a:prstDash val="solid"/>
          </a:ln>
        </p:spPr>
      </p:sp>
      <p:sp>
        <p:nvSpPr>
          <p:cNvPr id="29" name="title-leaf-2-key-1"/>
          <p:cNvSpPr txBox="1"/>
          <p:nvPr/>
        </p:nvSpPr>
        <p:spPr>
          <a:xfrm>
            <a:off x="10991088" y="3657600"/>
            <a:ext cx="566928" cy="420624"/>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1063</a:t>
            </a:r>
            <a:endParaRPr lang="en-US" sz="1400" dirty="0"/>
          </a:p>
        </p:txBody>
      </p:sp>
      <p:sp>
        <p:nvSpPr>
          <p:cNvPr id="30" name="title-tree-caption"/>
          <p:cNvSpPr txBox="1"/>
          <p:nvPr/>
        </p:nvSpPr>
        <p:spPr>
          <a:xfrm>
            <a:off x="7589520" y="4297680"/>
            <a:ext cx="4023360" cy="320040"/>
          </a:xfrm>
          <a:prstGeom prst="rect">
            <a:avLst/>
          </a:prstGeom>
          <a:noFill/>
          <a:ln/>
        </p:spPr>
        <p:txBody>
          <a:bodyPr wrap="square" lIns="0" tIns="0" rIns="0" bIns="0" rtlCol="0" anchor="ctr"/>
          <a:lstStyle/>
          <a:p>
            <a:pPr algn="ctr" indent="0" marL="0">
              <a:buNone/>
            </a:pPr>
            <a:r>
              <a:rPr lang="en-US" sz="1200" i="1" dirty="0">
                <a:solidFill>
                  <a:srgbClr val="94A3B8"/>
                </a:solidFill>
              </a:rPr>
              <a:t>internal node = signpost   ·   leaves = data, linked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01</a:t>
            </a:r>
            <a:endParaRPr lang="en-US" sz="1100" dirty="0"/>
          </a:p>
        </p:txBody>
      </p:sp>
      <p:sp>
        <p:nvSpPr>
          <p:cNvPr id="4" name="kicker-label-cell"/>
          <p:cNvSpPr/>
          <p:nvPr/>
        </p:nvSpPr>
        <p:spPr>
          <a:xfrm>
            <a:off x="1005840" y="274320"/>
            <a:ext cx="1199693"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199693"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THE PROBLEM</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Finding one record among millions</a:t>
            </a:r>
            <a:endParaRPr lang="en-US" sz="3200" dirty="0"/>
          </a:p>
        </p:txBody>
      </p:sp>
      <p:sp>
        <p:nvSpPr>
          <p:cNvPr id="7" name="scan-card"/>
          <p:cNvSpPr/>
          <p:nvPr/>
        </p:nvSpPr>
        <p:spPr>
          <a:xfrm>
            <a:off x="548640" y="1691640"/>
            <a:ext cx="5349240" cy="3566160"/>
          </a:xfrm>
          <a:prstGeom prst="roundRect">
            <a:avLst>
              <a:gd name="adj" fmla="val 2051"/>
            </a:avLst>
          </a:prstGeom>
          <a:solidFill>
            <a:srgbClr val="FEF2F2"/>
          </a:solidFill>
          <a:ln w="12700">
            <a:solidFill>
              <a:srgbClr val="FCA5A5"/>
            </a:solidFill>
            <a:prstDash val="solid"/>
          </a:ln>
          <a:effectLst>
            <a:outerShdw sx="100000" sy="100000" kx="0" ky="0" algn="bl" rotWithShape="0" blurRad="76200" dist="25400" dir="5400000">
              <a:srgbClr val="000000">
                <a:alpha val="12000"/>
              </a:srgbClr>
            </a:outerShdw>
          </a:effectLst>
        </p:spPr>
      </p:sp>
      <p:sp>
        <p:nvSpPr>
          <p:cNvPr id="8" name="scan-circle"/>
          <p:cNvSpPr/>
          <p:nvPr/>
        </p:nvSpPr>
        <p:spPr>
          <a:xfrm>
            <a:off x="868680" y="1965960"/>
            <a:ext cx="640080" cy="640080"/>
          </a:xfrm>
          <a:prstGeom prst="ellipse">
            <a:avLst/>
          </a:prstGeom>
          <a:solidFill>
            <a:schemeClr val="accent5"/>
          </a:solidFill>
          <a:ln w="12700">
            <a:solidFill>
              <a:schemeClr val="accent5"/>
            </a:solidFill>
            <a:prstDash val="solid"/>
          </a:ln>
        </p:spPr>
      </p:sp>
      <p:pic>
        <p:nvPicPr>
          <p:cNvPr id="9" name="scan-icon" descr="scan">    </p:cNvPr>
          <p:cNvPicPr>
            <a:picLocks noChangeAspect="1"/>
          </p:cNvPicPr>
          <p:nvPr/>
        </p:nvPicPr>
        <p:blipFill>
          <a:blip r:embed="rId1"/>
          <a:stretch>
            <a:fillRect/>
          </a:stretch>
        </p:blipFill>
        <p:spPr>
          <a:xfrm>
            <a:off x="1022299" y="2119579"/>
            <a:ext cx="332842" cy="332842"/>
          </a:xfrm>
          <a:prstGeom prst="rect">
            <a:avLst/>
          </a:prstGeom>
        </p:spPr>
      </p:pic>
      <p:sp>
        <p:nvSpPr>
          <p:cNvPr id="10" name="scan-heading"/>
          <p:cNvSpPr txBox="1"/>
          <p:nvPr/>
        </p:nvSpPr>
        <p:spPr>
          <a:xfrm>
            <a:off x="1691640" y="1965960"/>
            <a:ext cx="4023360" cy="640080"/>
          </a:xfrm>
          <a:prstGeom prst="rect">
            <a:avLst/>
          </a:prstGeom>
          <a:noFill/>
          <a:ln/>
        </p:spPr>
        <p:txBody>
          <a:bodyPr wrap="square" lIns="0" tIns="0" rIns="0" bIns="0" rtlCol="0" anchor="ctr"/>
          <a:lstStyle/>
          <a:p>
            <a:pPr indent="0" marL="0">
              <a:buNone/>
            </a:pPr>
            <a:r>
              <a:rPr lang="en-US" sz="1800" b="1" dirty="0">
                <a:solidFill>
                  <a:schemeClr val="accent5"/>
                </a:solidFill>
              </a:rPr>
              <a:t>Without an index: full table scan</a:t>
            </a:r>
            <a:endParaRPr lang="en-US" sz="1800" dirty="0"/>
          </a:p>
        </p:txBody>
      </p:sp>
      <p:sp>
        <p:nvSpPr>
          <p:cNvPr id="11" name="scan-stat-value"/>
          <p:cNvSpPr txBox="1"/>
          <p:nvPr/>
        </p:nvSpPr>
        <p:spPr>
          <a:xfrm>
            <a:off x="868680" y="2788920"/>
            <a:ext cx="4754880" cy="868680"/>
          </a:xfrm>
          <a:prstGeom prst="rect">
            <a:avLst/>
          </a:prstGeom>
          <a:noFill/>
          <a:ln/>
        </p:spPr>
        <p:txBody>
          <a:bodyPr wrap="square" lIns="0" tIns="0" rIns="0" bIns="0" rtlCol="0" anchor="b"/>
          <a:lstStyle/>
          <a:p>
            <a:pPr indent="0" marL="0">
              <a:buNone/>
            </a:pPr>
            <a:r>
              <a:rPr lang="en-US" sz="5400" b="1" dirty="0">
                <a:solidFill>
                  <a:schemeClr val="accent5"/>
                </a:solidFill>
                <a:latin typeface="Cambria" pitchFamily="34" charset="0"/>
                <a:ea typeface="Cambria" pitchFamily="34" charset="-122"/>
                <a:cs typeface="Cambria" pitchFamily="34" charset="-120"/>
              </a:rPr>
              <a:t>1,000,000</a:t>
            </a:r>
            <a:endParaRPr lang="en-US" sz="5400" dirty="0"/>
          </a:p>
        </p:txBody>
      </p:sp>
      <p:sp>
        <p:nvSpPr>
          <p:cNvPr id="12" name="scan-stat-label"/>
          <p:cNvSpPr txBox="1"/>
          <p:nvPr/>
        </p:nvSpPr>
        <p:spPr>
          <a:xfrm>
            <a:off x="868680" y="3703320"/>
            <a:ext cx="4754880" cy="566928"/>
          </a:xfrm>
          <a:prstGeom prst="rect">
            <a:avLst/>
          </a:prstGeom>
          <a:noFill/>
          <a:ln/>
        </p:spPr>
        <p:txBody>
          <a:bodyPr wrap="square" lIns="0" tIns="0" rIns="0" bIns="0" rtlCol="0" anchor="t"/>
          <a:lstStyle/>
          <a:p>
            <a:pPr indent="0" marL="0">
              <a:buNone/>
            </a:pPr>
            <a:r>
              <a:rPr lang="en-US" sz="1400" dirty="0">
                <a:solidFill>
                  <a:schemeClr val="tx2"/>
                </a:solidFill>
              </a:rPr>
              <a:t>rows read in the worst case (e.g. an ID that does not exist)</a:t>
            </a:r>
            <a:endParaRPr lang="en-US" sz="1400" dirty="0"/>
          </a:p>
        </p:txBody>
      </p:sp>
      <p:sp>
        <p:nvSpPr>
          <p:cNvPr id="13" name="scan-measured"/>
          <p:cNvSpPr txBox="1"/>
          <p:nvPr/>
        </p:nvSpPr>
        <p:spPr>
          <a:xfrm>
            <a:off x="868680" y="4526280"/>
            <a:ext cx="4754880" cy="365760"/>
          </a:xfrm>
          <a:prstGeom prst="rect">
            <a:avLst/>
          </a:prstGeom>
          <a:noFill/>
          <a:ln/>
        </p:spPr>
        <p:txBody>
          <a:bodyPr wrap="square" lIns="0" tIns="0" rIns="0" bIns="0" rtlCol="0" anchor="ctr"/>
          <a:lstStyle/>
          <a:p>
            <a:pPr indent="0" marL="0">
              <a:buNone/>
            </a:pPr>
            <a:r>
              <a:rPr lang="en-US" sz="1400" i="1" dirty="0">
                <a:solidFill>
                  <a:schemeClr val="tx2"/>
                </a:solidFill>
              </a:rPr>
              <a:t>Measured: 108,098 ns per lookup at 1M records</a:t>
            </a:r>
            <a:endParaRPr lang="en-US" sz="1400" dirty="0"/>
          </a:p>
        </p:txBody>
      </p:sp>
      <p:sp>
        <p:nvSpPr>
          <p:cNvPr id="14" name="index-card"/>
          <p:cNvSpPr/>
          <p:nvPr/>
        </p:nvSpPr>
        <p:spPr>
          <a:xfrm>
            <a:off x="6291072" y="1691640"/>
            <a:ext cx="5349240" cy="3566160"/>
          </a:xfrm>
          <a:prstGeom prst="roundRect">
            <a:avLst>
              <a:gd name="adj" fmla="val 2051"/>
            </a:avLst>
          </a:prstGeom>
          <a:solidFill>
            <a:srgbClr val="F0FDF4"/>
          </a:solidFill>
          <a:ln w="12700">
            <a:solidFill>
              <a:srgbClr val="86EFAC"/>
            </a:solidFill>
            <a:prstDash val="solid"/>
          </a:ln>
          <a:effectLst>
            <a:outerShdw sx="100000" sy="100000" kx="0" ky="0" algn="bl" rotWithShape="0" blurRad="76200" dist="25400" dir="5400000">
              <a:srgbClr val="000000">
                <a:alpha val="12000"/>
              </a:srgbClr>
            </a:outerShdw>
          </a:effectLst>
        </p:spPr>
      </p:sp>
      <p:sp>
        <p:nvSpPr>
          <p:cNvPr id="15" name="index-circle"/>
          <p:cNvSpPr/>
          <p:nvPr/>
        </p:nvSpPr>
        <p:spPr>
          <a:xfrm>
            <a:off x="6611112" y="1965960"/>
            <a:ext cx="640080" cy="640080"/>
          </a:xfrm>
          <a:prstGeom prst="ellipse">
            <a:avLst/>
          </a:prstGeom>
          <a:solidFill>
            <a:schemeClr val="accent1"/>
          </a:solidFill>
          <a:ln w="12700">
            <a:solidFill>
              <a:schemeClr val="accent1"/>
            </a:solidFill>
            <a:prstDash val="solid"/>
          </a:ln>
        </p:spPr>
      </p:sp>
      <p:pic>
        <p:nvPicPr>
          <p:cNvPr id="16" name="index-icon" descr="index">    </p:cNvPr>
          <p:cNvPicPr>
            <a:picLocks noChangeAspect="1"/>
          </p:cNvPicPr>
          <p:nvPr/>
        </p:nvPicPr>
        <p:blipFill>
          <a:blip r:embed="rId2"/>
          <a:stretch>
            <a:fillRect/>
          </a:stretch>
        </p:blipFill>
        <p:spPr>
          <a:xfrm>
            <a:off x="6764731" y="2119579"/>
            <a:ext cx="332842" cy="332842"/>
          </a:xfrm>
          <a:prstGeom prst="rect">
            <a:avLst/>
          </a:prstGeom>
        </p:spPr>
      </p:pic>
      <p:sp>
        <p:nvSpPr>
          <p:cNvPr id="17" name="index-heading"/>
          <p:cNvSpPr txBox="1"/>
          <p:nvPr/>
        </p:nvSpPr>
        <p:spPr>
          <a:xfrm>
            <a:off x="7434072" y="1965960"/>
            <a:ext cx="4023360" cy="640080"/>
          </a:xfrm>
          <a:prstGeom prst="rect">
            <a:avLst/>
          </a:prstGeom>
          <a:noFill/>
          <a:ln/>
        </p:spPr>
        <p:txBody>
          <a:bodyPr wrap="square" lIns="0" tIns="0" rIns="0" bIns="0" rtlCol="0" anchor="ctr"/>
          <a:lstStyle/>
          <a:p>
            <a:pPr indent="0" marL="0">
              <a:buNone/>
            </a:pPr>
            <a:r>
              <a:rPr lang="en-US" sz="1800" b="1" dirty="0">
                <a:solidFill>
                  <a:schemeClr val="accent1"/>
                </a:solidFill>
              </a:rPr>
              <a:t>With a B+ tree index</a:t>
            </a:r>
            <a:endParaRPr lang="en-US" sz="1800" dirty="0"/>
          </a:p>
        </p:txBody>
      </p:sp>
      <p:sp>
        <p:nvSpPr>
          <p:cNvPr id="18" name="index-stat-value"/>
          <p:cNvSpPr txBox="1"/>
          <p:nvPr/>
        </p:nvSpPr>
        <p:spPr>
          <a:xfrm>
            <a:off x="6611112" y="2788920"/>
            <a:ext cx="4754880" cy="86868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3</a:t>
            </a:r>
            <a:endParaRPr lang="en-US" sz="5400" dirty="0"/>
          </a:p>
        </p:txBody>
      </p:sp>
      <p:sp>
        <p:nvSpPr>
          <p:cNvPr id="19" name="index-stat-label"/>
          <p:cNvSpPr txBox="1"/>
          <p:nvPr/>
        </p:nvSpPr>
        <p:spPr>
          <a:xfrm>
            <a:off x="6611112" y="3703320"/>
            <a:ext cx="4754880" cy="566928"/>
          </a:xfrm>
          <a:prstGeom prst="rect">
            <a:avLst/>
          </a:prstGeom>
          <a:noFill/>
          <a:ln/>
        </p:spPr>
        <p:txBody>
          <a:bodyPr wrap="square" lIns="0" tIns="0" rIns="0" bIns="0" rtlCol="0" anchor="t"/>
          <a:lstStyle/>
          <a:p>
            <a:pPr indent="0" marL="0">
              <a:buNone/>
            </a:pPr>
            <a:r>
              <a:rPr lang="en-US" sz="1400" dirty="0">
                <a:solidFill>
                  <a:schemeClr val="tx2"/>
                </a:solidFill>
              </a:rPr>
              <a:t>node reads per lookup for the same 1,000,000 records</a:t>
            </a:r>
            <a:endParaRPr lang="en-US" sz="1400" dirty="0"/>
          </a:p>
        </p:txBody>
      </p:sp>
      <p:sp>
        <p:nvSpPr>
          <p:cNvPr id="20" name="index-measured"/>
          <p:cNvSpPr txBox="1"/>
          <p:nvPr/>
        </p:nvSpPr>
        <p:spPr>
          <a:xfrm>
            <a:off x="6611112" y="4526280"/>
            <a:ext cx="4754880" cy="365760"/>
          </a:xfrm>
          <a:prstGeom prst="rect">
            <a:avLst/>
          </a:prstGeom>
          <a:noFill/>
          <a:ln/>
        </p:spPr>
        <p:txBody>
          <a:bodyPr wrap="square" lIns="0" tIns="0" rIns="0" bIns="0" rtlCol="0" anchor="ctr"/>
          <a:lstStyle/>
          <a:p>
            <a:pPr indent="0" marL="0">
              <a:buNone/>
            </a:pPr>
            <a:r>
              <a:rPr lang="en-US" sz="1400" i="1" dirty="0">
                <a:solidFill>
                  <a:schemeClr val="tx2"/>
                </a:solidFill>
              </a:rPr>
              <a:t>Measured: 296 ns per lookup  ·  365× faster</a:t>
            </a:r>
            <a:endParaRPr lang="en-US" sz="1400" dirty="0"/>
          </a:p>
        </p:txBody>
      </p:sp>
      <p:sp>
        <p:nvSpPr>
          <p:cNvPr id="21" name="problem-takeaway"/>
          <p:cNvSpPr txBox="1"/>
          <p:nvPr/>
        </p:nvSpPr>
        <p:spPr>
          <a:xfrm>
            <a:off x="548640" y="5532120"/>
            <a:ext cx="11064240" cy="502920"/>
          </a:xfrm>
          <a:prstGeom prst="rect">
            <a:avLst/>
          </a:prstGeom>
          <a:noFill/>
          <a:ln/>
        </p:spPr>
        <p:txBody>
          <a:bodyPr wrap="square" lIns="0" tIns="0" rIns="0" bIns="0" rtlCol="0" anchor="ctr"/>
          <a:lstStyle/>
          <a:p>
            <a:pPr indent="0" marL="0">
              <a:buNone/>
            </a:pPr>
            <a:r>
              <a:rPr lang="en-US" sz="1800" dirty="0">
                <a:solidFill>
                  <a:schemeClr val="tx1"/>
                </a:solidFill>
              </a:rPr>
              <a:t>In the cloud, </a:t>
            </a:r>
            <a:pPr indent="0" marL="0">
              <a:buNone/>
            </a:pPr>
            <a:r>
              <a:rPr lang="en-US" sz="1800" b="1" dirty="0">
                <a:solidFill>
                  <a:schemeClr val="tx1"/>
                </a:solidFill>
              </a:rPr>
              <a:t>every read is a network round trip</a:t>
            </a:r>
            <a:pPr indent="0" marL="0">
              <a:buNone/>
            </a:pPr>
            <a:r>
              <a:rPr lang="en-US" sz="1800" dirty="0">
                <a:solidFill>
                  <a:schemeClr val="tx1"/>
                </a:solidFill>
              </a:rPr>
              <a:t> — fewer reads mean faster, cheaper queries.</a:t>
            </a:r>
            <a:endParaRPr lang="en-US" sz="18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02</a:t>
            </a:r>
            <a:endParaRPr lang="en-US" sz="1100" dirty="0"/>
          </a:p>
        </p:txBody>
      </p:sp>
      <p:sp>
        <p:nvSpPr>
          <p:cNvPr id="4" name="kicker-label-cell"/>
          <p:cNvSpPr/>
          <p:nvPr/>
        </p:nvSpPr>
        <p:spPr>
          <a:xfrm>
            <a:off x="1005840" y="274320"/>
            <a:ext cx="1704442"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704442"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WHAT IS A B+ TREE</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A wide, shallow, always-balanced search tree</a:t>
            </a:r>
            <a:endParaRPr lang="en-US" sz="3200" dirty="0"/>
          </a:p>
        </p:txBody>
      </p:sp>
      <p:pic>
        <p:nvPicPr>
          <p:cNvPr id="7" name="B+ tree built by the program from 24 sample records, order 4" descr="B+ tree built by the program from 24 sample records, order 4">    </p:cNvPr>
          <p:cNvPicPr>
            <a:picLocks noChangeAspect="1"/>
          </p:cNvPicPr>
          <p:nvPr/>
        </p:nvPicPr>
        <p:blipFill>
          <a:blip r:embed="rId1"/>
          <a:stretch>
            <a:fillRect/>
          </a:stretch>
        </p:blipFill>
        <p:spPr>
          <a:xfrm>
            <a:off x="548640" y="1843735"/>
            <a:ext cx="11064240" cy="4130650"/>
          </a:xfrm>
          <a:prstGeom prst="rect">
            <a:avLst/>
          </a:prstGeom>
        </p:spPr>
      </p:pic>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02</a:t>
            </a:r>
            <a:endParaRPr lang="en-US" sz="1100" dirty="0"/>
          </a:p>
        </p:txBody>
      </p:sp>
      <p:sp>
        <p:nvSpPr>
          <p:cNvPr id="4" name="kicker-label-cell"/>
          <p:cNvSpPr/>
          <p:nvPr/>
        </p:nvSpPr>
        <p:spPr>
          <a:xfrm>
            <a:off x="1005840" y="274320"/>
            <a:ext cx="1704442"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704442"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WHAT IS A B+ TREE</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B-tree vs B+ tree: where the data lives</a:t>
            </a:r>
            <a:endParaRPr lang="en-US" sz="3200" dirty="0"/>
          </a:p>
        </p:txBody>
      </p:sp>
      <p:pic>
        <p:nvPicPr>
          <p:cNvPr id="7" name="B-tree vs B+ tree holding the same seven records" descr="B-tree vs B+ tree holding the same seven records">    </p:cNvPr>
          <p:cNvPicPr>
            <a:picLocks noChangeAspect="1"/>
          </p:cNvPicPr>
          <p:nvPr/>
        </p:nvPicPr>
        <p:blipFill>
          <a:blip r:embed="rId1"/>
          <a:stretch>
            <a:fillRect/>
          </a:stretch>
        </p:blipFill>
        <p:spPr>
          <a:xfrm>
            <a:off x="548640" y="1696212"/>
            <a:ext cx="11064240" cy="4425696"/>
          </a:xfrm>
          <a:prstGeom prst="rect">
            <a:avLst/>
          </a:prstGeom>
        </p:spPr>
      </p:pic>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03</a:t>
            </a:r>
            <a:endParaRPr lang="en-US" sz="1100" dirty="0"/>
          </a:p>
        </p:txBody>
      </p:sp>
      <p:sp>
        <p:nvSpPr>
          <p:cNvPr id="4" name="kicker-label-cell"/>
          <p:cNvSpPr/>
          <p:nvPr/>
        </p:nvSpPr>
        <p:spPr>
          <a:xfrm>
            <a:off x="1005840" y="274320"/>
            <a:ext cx="1115568"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115568"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OPERATIONS</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Search: one trip down, then sideways for ranges</a:t>
            </a:r>
            <a:endParaRPr lang="en-US" sz="3200" dirty="0"/>
          </a:p>
        </p:txBody>
      </p:sp>
      <p:pic>
        <p:nvPicPr>
          <p:cNvPr id="7" name="Search path for 1052 and range scan for 1020 to 1050" descr="Search path for 1052 and range scan for 1020 to 1050">    </p:cNvPr>
          <p:cNvPicPr>
            <a:picLocks noChangeAspect="1"/>
          </p:cNvPicPr>
          <p:nvPr/>
        </p:nvPicPr>
        <p:blipFill>
          <a:blip r:embed="rId1"/>
          <a:stretch>
            <a:fillRect/>
          </a:stretch>
        </p:blipFill>
        <p:spPr>
          <a:xfrm>
            <a:off x="548640" y="1696212"/>
            <a:ext cx="11064240" cy="4425696"/>
          </a:xfrm>
          <a:prstGeom prst="rect">
            <a:avLst/>
          </a:prstGeom>
        </p:spPr>
      </p:pic>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03</a:t>
            </a:r>
            <a:endParaRPr lang="en-US" sz="1100" dirty="0"/>
          </a:p>
        </p:txBody>
      </p:sp>
      <p:sp>
        <p:nvSpPr>
          <p:cNvPr id="4" name="kicker-label-cell"/>
          <p:cNvSpPr/>
          <p:nvPr/>
        </p:nvSpPr>
        <p:spPr>
          <a:xfrm>
            <a:off x="1005840" y="274320"/>
            <a:ext cx="1115568"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115568"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OPERATIONS</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Insert: split when full, grow only at the root</a:t>
            </a:r>
            <a:endParaRPr lang="en-US" sz="3200" dirty="0"/>
          </a:p>
        </p:txBody>
      </p:sp>
      <p:pic>
        <p:nvPicPr>
          <p:cNvPr id="7" name="Inserting 1078 causes a leaf split and an internal split" descr="Inserting 1078 causes a leaf split and an internal split">    </p:cNvPr>
          <p:cNvPicPr>
            <a:picLocks noChangeAspect="1"/>
          </p:cNvPicPr>
          <p:nvPr/>
        </p:nvPicPr>
        <p:blipFill>
          <a:blip r:embed="rId1"/>
          <a:stretch>
            <a:fillRect/>
          </a:stretch>
        </p:blipFill>
        <p:spPr>
          <a:xfrm>
            <a:off x="1433563" y="1554480"/>
            <a:ext cx="9294395" cy="4709160"/>
          </a:xfrm>
          <a:prstGeom prst="rect">
            <a:avLst/>
          </a:prstGeom>
        </p:spPr>
      </p:pic>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03</a:t>
            </a:r>
            <a:endParaRPr lang="en-US" sz="1100" dirty="0"/>
          </a:p>
        </p:txBody>
      </p:sp>
      <p:sp>
        <p:nvSpPr>
          <p:cNvPr id="4" name="kicker-label-cell"/>
          <p:cNvSpPr/>
          <p:nvPr/>
        </p:nvSpPr>
        <p:spPr>
          <a:xfrm>
            <a:off x="1005840" y="274320"/>
            <a:ext cx="1115568"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115568"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OPERATIONS</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Delete: borrow from a sibling, or merge</a:t>
            </a:r>
            <a:endParaRPr lang="en-US" sz="3200" dirty="0"/>
          </a:p>
        </p:txBody>
      </p:sp>
      <p:pic>
        <p:nvPicPr>
          <p:cNvPr id="7" name="Deleting 1044 and 1052 causes merges and a borrow" descr="Deleting 1044 and 1052 causes merges and a borrow">    </p:cNvPr>
          <p:cNvPicPr>
            <a:picLocks noChangeAspect="1"/>
          </p:cNvPicPr>
          <p:nvPr/>
        </p:nvPicPr>
        <p:blipFill>
          <a:blip r:embed="rId1"/>
          <a:stretch>
            <a:fillRect/>
          </a:stretch>
        </p:blipFill>
        <p:spPr>
          <a:xfrm>
            <a:off x="1035231" y="1554480"/>
            <a:ext cx="10091057" cy="4709160"/>
          </a:xfrm>
          <a:prstGeom prst="rect">
            <a:avLst/>
          </a:prstGeom>
        </p:spPr>
      </p:pic>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04</a:t>
            </a:r>
            <a:endParaRPr lang="en-US" sz="1100" dirty="0"/>
          </a:p>
        </p:txBody>
      </p:sp>
      <p:sp>
        <p:nvSpPr>
          <p:cNvPr id="4" name="kicker-label-cell"/>
          <p:cNvSpPr/>
          <p:nvPr/>
        </p:nvSpPr>
        <p:spPr>
          <a:xfrm>
            <a:off x="1005840" y="274320"/>
            <a:ext cx="1115568"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115568"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COMPLEXITY</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Every operation is one trip down the tree</a:t>
            </a:r>
            <a:endParaRPr lang="en-US" sz="3200" dirty="0"/>
          </a:p>
        </p:txBody>
      </p:sp>
      <p:graphicFrame>
        <p:nvGraphicFramePr>
          <p:cNvPr id="9" name="complexity-table"/>
          <p:cNvGraphicFramePr>
            <a:graphicFrameLocks noGrp="1"/>
          </p:cNvGraphicFramePr>
          <p:nvPr>
            <p:extLst>
              <p:ext uri="{D42A27DB-BD31-4B8C-83A1-F6EECF244321}">
                <p14:modId xmlns:p14="http://schemas.microsoft.com/office/powerpoint/2010/main" val="1579011935"/>
              </p:ext>
            </p:extLst>
          </p:nvPr>
        </p:nvGraphicFramePr>
        <p:xfrm>
          <a:off x="548640" y="1691640"/>
          <a:ext cx="7040880" cy="914400"/>
        </p:xfrm>
        <a:graphic>
          <a:graphicData uri="http://schemas.openxmlformats.org/drawingml/2006/table">
            <a:tbl>
              <a:tblPr/>
              <a:tblGrid>
                <a:gridCol w="2148840"/>
                <a:gridCol w="1874520"/>
                <a:gridCol w="3017520"/>
              </a:tblGrid>
              <a:tr h="566928">
                <a:tc>
                  <a:txBody>
                    <a:bodyPr/>
                    <a:lstStyle/>
                    <a:p>
                      <a:pPr indent="0" marL="0">
                        <a:buNone/>
                      </a:pPr>
                      <a:r>
                        <a:rPr lang="en-US" sz="1400" b="1" dirty="0">
                          <a:solidFill>
                            <a:schemeClr val="bg1"/>
                          </a:solidFill>
                        </a:rPr>
                        <a:t>Operation</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rPr>
                        <a:t>Node (page) reads</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rPr>
                        <a:t>Why</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accent2"/>
                    </a:solidFill>
                  </a:tcPr>
                </a:tc>
              </a:tr>
              <a:tr h="566928">
                <a:tc>
                  <a:txBody>
                    <a:bodyPr/>
                    <a:lstStyle/>
                    <a:p>
                      <a:pPr indent="0" marL="0">
                        <a:buNone/>
                      </a:pPr>
                      <a:r>
                        <a:rPr lang="en-US" sz="1400" dirty="0">
                          <a:solidFill>
                            <a:schemeClr val="tx1"/>
                          </a:solidFill>
                        </a:rPr>
                        <a:t>Search</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c>
                  <a:txBody>
                    <a:bodyPr/>
                    <a:lstStyle/>
                    <a:p>
                      <a:pPr indent="0" marL="0">
                        <a:buNone/>
                      </a:pPr>
                      <a:r>
                        <a:rPr lang="en-US" sz="1400" dirty="0">
                          <a:solidFill>
                            <a:schemeClr val="tx1"/>
                          </a:solidFill>
                        </a:rPr>
                        <a:t>O(log_m n)</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c>
                  <a:txBody>
                    <a:bodyPr/>
                    <a:lstStyle/>
                    <a:p>
                      <a:pPr indent="0" marL="0">
                        <a:buNone/>
                      </a:pPr>
                      <a:r>
                        <a:rPr lang="en-US" sz="1400" dirty="0">
                          <a:solidFill>
                            <a:schemeClr val="tx1"/>
                          </a:solidFill>
                        </a:rPr>
                        <a:t>One node per level, always ends at a leaf</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r>
              <a:tr h="566928">
                <a:tc>
                  <a:txBody>
                    <a:bodyPr/>
                    <a:lstStyle/>
                    <a:p>
                      <a:pPr indent="0" marL="0">
                        <a:buNone/>
                      </a:pPr>
                      <a:r>
                        <a:rPr lang="en-US" sz="1400" dirty="0">
                          <a:solidFill>
                            <a:schemeClr val="tx1"/>
                          </a:solidFill>
                        </a:rPr>
                        <a:t>Range search (k results)</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c>
                  <a:txBody>
                    <a:bodyPr/>
                    <a:lstStyle/>
                    <a:p>
                      <a:pPr indent="0" marL="0">
                        <a:buNone/>
                      </a:pPr>
                      <a:r>
                        <a:rPr lang="en-US" sz="1400" dirty="0">
                          <a:solidFill>
                            <a:schemeClr val="tx1"/>
                          </a:solidFill>
                        </a:rPr>
                        <a:t>O(log_m n + k/m)</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c>
                  <a:txBody>
                    <a:bodyPr/>
                    <a:lstStyle/>
                    <a:p>
                      <a:pPr indent="0" marL="0">
                        <a:buNone/>
                      </a:pPr>
                      <a:r>
                        <a:rPr lang="en-US" sz="1400" dirty="0">
                          <a:solidFill>
                            <a:schemeClr val="tx1"/>
                          </a:solidFill>
                        </a:rPr>
                        <a:t>One descent, then walk the linked leaves</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r>
              <a:tr h="566928">
                <a:tc>
                  <a:txBody>
                    <a:bodyPr/>
                    <a:lstStyle/>
                    <a:p>
                      <a:pPr indent="0" marL="0">
                        <a:buNone/>
                      </a:pPr>
                      <a:r>
                        <a:rPr lang="en-US" sz="1400" dirty="0">
                          <a:solidFill>
                            <a:schemeClr val="tx1"/>
                          </a:solidFill>
                        </a:rPr>
                        <a:t>Insert</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c>
                  <a:txBody>
                    <a:bodyPr/>
                    <a:lstStyle/>
                    <a:p>
                      <a:pPr indent="0" marL="0">
                        <a:buNone/>
                      </a:pPr>
                      <a:r>
                        <a:rPr lang="en-US" sz="1400" dirty="0">
                          <a:solidFill>
                            <a:schemeClr val="tx1"/>
                          </a:solidFill>
                        </a:rPr>
                        <a:t>O(log_m n)</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c>
                  <a:txBody>
                    <a:bodyPr/>
                    <a:lstStyle/>
                    <a:p>
                      <a:pPr indent="0" marL="0">
                        <a:buNone/>
                      </a:pPr>
                      <a:r>
                        <a:rPr lang="en-US" sz="1400" dirty="0">
                          <a:solidFill>
                            <a:schemeClr val="tx1"/>
                          </a:solidFill>
                        </a:rPr>
                        <a:t>At most one split per level</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r>
              <a:tr h="566928">
                <a:tc>
                  <a:txBody>
                    <a:bodyPr/>
                    <a:lstStyle/>
                    <a:p>
                      <a:pPr indent="0" marL="0">
                        <a:buNone/>
                      </a:pPr>
                      <a:r>
                        <a:rPr lang="en-US" sz="1400" dirty="0">
                          <a:solidFill>
                            <a:schemeClr val="tx1"/>
                          </a:solidFill>
                        </a:rPr>
                        <a:t>Delete</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c>
                  <a:txBody>
                    <a:bodyPr/>
                    <a:lstStyle/>
                    <a:p>
                      <a:pPr indent="0" marL="0">
                        <a:buNone/>
                      </a:pPr>
                      <a:r>
                        <a:rPr lang="en-US" sz="1400" dirty="0">
                          <a:solidFill>
                            <a:schemeClr val="tx1"/>
                          </a:solidFill>
                        </a:rPr>
                        <a:t>O(log_m n)</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c>
                  <a:txBody>
                    <a:bodyPr/>
                    <a:lstStyle/>
                    <a:p>
                      <a:pPr indent="0" marL="0">
                        <a:buNone/>
                      </a:pPr>
                      <a:r>
                        <a:rPr lang="en-US" sz="1400" dirty="0">
                          <a:solidFill>
                            <a:schemeClr val="tx1"/>
                          </a:solidFill>
                        </a:rPr>
                        <a:t>At most one borrow or merge per level</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r>
              <a:tr h="566928">
                <a:tc>
                  <a:txBody>
                    <a:bodyPr/>
                    <a:lstStyle/>
                    <a:p>
                      <a:pPr indent="0" marL="0">
                        <a:buNone/>
                      </a:pPr>
                      <a:r>
                        <a:rPr lang="en-US" sz="1400" dirty="0">
                          <a:solidFill>
                            <a:schemeClr val="tx1"/>
                          </a:solidFill>
                        </a:rPr>
                        <a:t>List all in order</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c>
                  <a:txBody>
                    <a:bodyPr/>
                    <a:lstStyle/>
                    <a:p>
                      <a:pPr indent="0" marL="0">
                        <a:buNone/>
                      </a:pPr>
                      <a:r>
                        <a:rPr lang="en-US" sz="1400" dirty="0">
                          <a:solidFill>
                            <a:schemeClr val="tx1"/>
                          </a:solidFill>
                        </a:rPr>
                        <a:t>O(n)</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c>
                  <a:txBody>
                    <a:bodyPr/>
                    <a:lstStyle/>
                    <a:p>
                      <a:pPr indent="0" marL="0">
                        <a:buNone/>
                      </a:pPr>
                      <a:r>
                        <a:rPr lang="en-US" sz="1400" dirty="0">
                          <a:solidFill>
                            <a:schemeClr val="tx1"/>
                          </a:solidFill>
                        </a:rPr>
                        <a:t>Walk the leaf chain</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r>
              <a:tr h="566928">
                <a:tc>
                  <a:txBody>
                    <a:bodyPr/>
                    <a:lstStyle/>
                    <a:p>
                      <a:pPr indent="0" marL="0">
                        <a:buNone/>
                      </a:pPr>
                      <a:r>
                        <a:rPr lang="en-US" sz="1400" dirty="0">
                          <a:solidFill>
                            <a:schemeClr val="tx1"/>
                          </a:solidFill>
                        </a:rPr>
                        <a:t>Space</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c>
                  <a:txBody>
                    <a:bodyPr/>
                    <a:lstStyle/>
                    <a:p>
                      <a:pPr indent="0" marL="0">
                        <a:buNone/>
                      </a:pPr>
                      <a:r>
                        <a:rPr lang="en-US" sz="1400" dirty="0">
                          <a:solidFill>
                            <a:schemeClr val="tx1"/>
                          </a:solidFill>
                        </a:rPr>
                        <a:t>O(n)</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c>
                  <a:txBody>
                    <a:bodyPr/>
                    <a:lstStyle/>
                    <a:p>
                      <a:pPr indent="0" marL="0">
                        <a:buNone/>
                      </a:pPr>
                      <a:r>
                        <a:rPr lang="en-US" sz="1400" dirty="0">
                          <a:solidFill>
                            <a:schemeClr val="tx1"/>
                          </a:solidFill>
                        </a:rPr>
                        <a:t>Every node is 50–100% full</a:t>
                      </a:r>
                      <a:endParaRPr lang="en-US" sz="1400" dirty="0"/>
                    </a:p>
                  </a:txBody>
                  <a:tcPr marL="91440" marR="91440" marT="0" marB="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tcPr>
                </a:tc>
              </a:tr>
            </a:tbl>
          </a:graphicData>
        </a:graphic>
      </p:graphicFrame>
      <p:sp>
        <p:nvSpPr>
          <p:cNvPr id="8" name="height-card"/>
          <p:cNvSpPr/>
          <p:nvPr/>
        </p:nvSpPr>
        <p:spPr>
          <a:xfrm>
            <a:off x="8001000" y="1691640"/>
            <a:ext cx="3611880" cy="3977640"/>
          </a:xfrm>
          <a:prstGeom prst="roundRect">
            <a:avLst>
              <a:gd name="adj" fmla="val 2025"/>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height-formula"/>
          <p:cNvSpPr txBox="1"/>
          <p:nvPr/>
        </p:nvSpPr>
        <p:spPr>
          <a:xfrm>
            <a:off x="8275320" y="1920240"/>
            <a:ext cx="3108960" cy="82296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O(log_m n)</a:t>
            </a:r>
            <a:endParaRPr lang="en-US" sz="4000" dirty="0"/>
          </a:p>
        </p:txBody>
      </p:sp>
      <p:sp>
        <p:nvSpPr>
          <p:cNvPr id="10" name="height-formula-label"/>
          <p:cNvSpPr txBox="1"/>
          <p:nvPr/>
        </p:nvSpPr>
        <p:spPr>
          <a:xfrm>
            <a:off x="8275320" y="2743200"/>
            <a:ext cx="3108960" cy="548640"/>
          </a:xfrm>
          <a:prstGeom prst="rect">
            <a:avLst/>
          </a:prstGeom>
          <a:noFill/>
          <a:ln/>
        </p:spPr>
        <p:txBody>
          <a:bodyPr wrap="square" lIns="0" tIns="0" rIns="0" bIns="0" rtlCol="0" anchor="t"/>
          <a:lstStyle/>
          <a:p>
            <a:pPr indent="0" marL="0">
              <a:buNone/>
            </a:pPr>
            <a:r>
              <a:rPr lang="en-US" sz="1400" dirty="0">
                <a:solidFill>
                  <a:schemeClr val="tx2"/>
                </a:solidFill>
              </a:rPr>
              <a:t>height of the tree — and the cost of every lookup</a:t>
            </a:r>
            <a:endParaRPr lang="en-US" sz="1400" dirty="0"/>
          </a:p>
        </p:txBody>
      </p:sp>
      <p:sp>
        <p:nvSpPr>
          <p:cNvPr id="11" name="capacity-value"/>
          <p:cNvSpPr txBox="1"/>
          <p:nvPr/>
        </p:nvSpPr>
        <p:spPr>
          <a:xfrm>
            <a:off x="8275320" y="3520440"/>
            <a:ext cx="3108960" cy="73152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125 million</a:t>
            </a:r>
            <a:endParaRPr lang="en-US" sz="3600" dirty="0"/>
          </a:p>
        </p:txBody>
      </p:sp>
      <p:sp>
        <p:nvSpPr>
          <p:cNvPr id="12" name="capacity-label"/>
          <p:cNvSpPr txBox="1"/>
          <p:nvPr/>
        </p:nvSpPr>
        <p:spPr>
          <a:xfrm>
            <a:off x="8275320" y="4251960"/>
            <a:ext cx="3108960" cy="822960"/>
          </a:xfrm>
          <a:prstGeom prst="rect">
            <a:avLst/>
          </a:prstGeom>
          <a:noFill/>
          <a:ln/>
        </p:spPr>
        <p:txBody>
          <a:bodyPr wrap="square" lIns="0" tIns="0" rIns="0" bIns="0" rtlCol="0" anchor="t"/>
          <a:lstStyle/>
          <a:p>
            <a:pPr indent="0" marL="0">
              <a:buNone/>
            </a:pPr>
            <a:r>
              <a:rPr lang="en-US" sz="1400" dirty="0">
                <a:solidFill>
                  <a:schemeClr val="tx2"/>
                </a:solidFill>
              </a:rPr>
              <a:t>keys fit in just 3 levels when m = 500 (500 × 500 × 499)</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05</a:t>
            </a:r>
            <a:endParaRPr lang="en-US" sz="1100" dirty="0"/>
          </a:p>
        </p:txBody>
      </p:sp>
      <p:sp>
        <p:nvSpPr>
          <p:cNvPr id="4" name="kicker-label-cell"/>
          <p:cNvSpPr/>
          <p:nvPr/>
        </p:nvSpPr>
        <p:spPr>
          <a:xfrm>
            <a:off x="1005840" y="274320"/>
            <a:ext cx="1788566"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788566"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REAL WORLD &amp; CLOUD</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Where B+ trees run today</a:t>
            </a:r>
            <a:endParaRPr lang="en-US" sz="3200" dirty="0"/>
          </a:p>
        </p:txBody>
      </p:sp>
      <p:sp>
        <p:nvSpPr>
          <p:cNvPr id="7" name="use-1-card"/>
          <p:cNvSpPr/>
          <p:nvPr/>
        </p:nvSpPr>
        <p:spPr>
          <a:xfrm>
            <a:off x="548640" y="1691640"/>
            <a:ext cx="3520440" cy="2011680"/>
          </a:xfrm>
          <a:prstGeom prst="roundRect">
            <a:avLst>
              <a:gd name="adj" fmla="val 3636"/>
            </a:avLst>
          </a:prstGeom>
          <a:solidFill>
            <a:schemeClr val="bg1"/>
          </a:solidFill>
          <a:ln w="12700">
            <a:solidFill>
              <a:srgbClr val="CBD5E1"/>
            </a:solidFill>
            <a:prstDash val="solid"/>
          </a:ln>
          <a:effectLst>
            <a:outerShdw sx="100000" sy="100000" kx="0" ky="0" algn="bl" rotWithShape="0" blurRad="76200" dist="25400" dir="5400000">
              <a:srgbClr val="000000">
                <a:alpha val="12000"/>
              </a:srgbClr>
            </a:outerShdw>
          </a:effectLst>
        </p:spPr>
      </p:sp>
      <p:sp>
        <p:nvSpPr>
          <p:cNvPr id="8" name="use-1-circle"/>
          <p:cNvSpPr/>
          <p:nvPr/>
        </p:nvSpPr>
        <p:spPr>
          <a:xfrm>
            <a:off x="777240" y="1920240"/>
            <a:ext cx="566928" cy="566928"/>
          </a:xfrm>
          <a:prstGeom prst="ellipse">
            <a:avLst/>
          </a:prstGeom>
          <a:solidFill>
            <a:schemeClr val="accent2"/>
          </a:solidFill>
          <a:ln w="12700">
            <a:solidFill>
              <a:schemeClr val="accent2"/>
            </a:solidFill>
            <a:prstDash val="solid"/>
          </a:ln>
        </p:spPr>
      </p:sp>
      <p:pic>
        <p:nvPicPr>
          <p:cNvPr id="9" name="use-1-icon" descr="use-1">    </p:cNvPr>
          <p:cNvPicPr>
            <a:picLocks noChangeAspect="1"/>
          </p:cNvPicPr>
          <p:nvPr/>
        </p:nvPicPr>
        <p:blipFill>
          <a:blip r:embed="rId1"/>
          <a:stretch>
            <a:fillRect/>
          </a:stretch>
        </p:blipFill>
        <p:spPr>
          <a:xfrm>
            <a:off x="913303" y="2056303"/>
            <a:ext cx="294803" cy="294803"/>
          </a:xfrm>
          <a:prstGeom prst="rect">
            <a:avLst/>
          </a:prstGeom>
        </p:spPr>
      </p:pic>
      <p:sp>
        <p:nvSpPr>
          <p:cNvPr id="10" name="use-1-heading"/>
          <p:cNvSpPr txBox="1"/>
          <p:nvPr/>
        </p:nvSpPr>
        <p:spPr>
          <a:xfrm>
            <a:off x="1481328" y="1920240"/>
            <a:ext cx="2423160" cy="566928"/>
          </a:xfrm>
          <a:prstGeom prst="rect">
            <a:avLst/>
          </a:prstGeom>
          <a:noFill/>
          <a:ln/>
        </p:spPr>
        <p:txBody>
          <a:bodyPr wrap="square" lIns="0" tIns="0" rIns="0" bIns="0" rtlCol="0" anchor="ctr"/>
          <a:lstStyle/>
          <a:p>
            <a:pPr indent="0" marL="0">
              <a:buNone/>
            </a:pPr>
            <a:r>
              <a:rPr lang="en-US" sz="1700" b="1" dirty="0">
                <a:solidFill>
                  <a:schemeClr val="tx1"/>
                </a:solidFill>
              </a:rPr>
              <a:t>MySQL (InnoDB)</a:t>
            </a:r>
            <a:endParaRPr lang="en-US" sz="1700" dirty="0"/>
          </a:p>
        </p:txBody>
      </p:sp>
      <p:sp>
        <p:nvSpPr>
          <p:cNvPr id="11" name="use-1-body"/>
          <p:cNvSpPr txBox="1"/>
          <p:nvPr/>
        </p:nvSpPr>
        <p:spPr>
          <a:xfrm>
            <a:off x="777240" y="2606040"/>
            <a:ext cx="3108960" cy="960120"/>
          </a:xfrm>
          <a:prstGeom prst="rect">
            <a:avLst/>
          </a:prstGeom>
          <a:noFill/>
          <a:ln/>
        </p:spPr>
        <p:txBody>
          <a:bodyPr wrap="square" lIns="0" tIns="0" rIns="0" bIns="0" rtlCol="0" anchor="t"/>
          <a:lstStyle/>
          <a:p>
            <a:pPr indent="0" marL="0">
              <a:buNone/>
            </a:pPr>
            <a:r>
              <a:rPr lang="en-US" sz="1400" dirty="0">
                <a:solidFill>
                  <a:schemeClr val="tx2"/>
                </a:solidFill>
              </a:rPr>
              <a:t>Indexes are B-trees with records in the leaf pages; 16 KB pages by default.</a:t>
            </a:r>
            <a:endParaRPr lang="en-US" sz="1400" dirty="0"/>
          </a:p>
        </p:txBody>
      </p:sp>
      <p:sp>
        <p:nvSpPr>
          <p:cNvPr id="12" name="use-2-card"/>
          <p:cNvSpPr/>
          <p:nvPr/>
        </p:nvSpPr>
        <p:spPr>
          <a:xfrm>
            <a:off x="4297680" y="1691640"/>
            <a:ext cx="3520440" cy="2011680"/>
          </a:xfrm>
          <a:prstGeom prst="roundRect">
            <a:avLst>
              <a:gd name="adj" fmla="val 3636"/>
            </a:avLst>
          </a:prstGeom>
          <a:solidFill>
            <a:schemeClr val="bg1"/>
          </a:solidFill>
          <a:ln w="12700">
            <a:solidFill>
              <a:srgbClr val="CBD5E1"/>
            </a:solidFill>
            <a:prstDash val="solid"/>
          </a:ln>
          <a:effectLst>
            <a:outerShdw sx="100000" sy="100000" kx="0" ky="0" algn="bl" rotWithShape="0" blurRad="76200" dist="25400" dir="5400000">
              <a:srgbClr val="000000">
                <a:alpha val="12000"/>
              </a:srgbClr>
            </a:outerShdw>
          </a:effectLst>
        </p:spPr>
      </p:sp>
      <p:sp>
        <p:nvSpPr>
          <p:cNvPr id="13" name="use-2-circle"/>
          <p:cNvSpPr/>
          <p:nvPr/>
        </p:nvSpPr>
        <p:spPr>
          <a:xfrm>
            <a:off x="4526280" y="1920240"/>
            <a:ext cx="566928" cy="566928"/>
          </a:xfrm>
          <a:prstGeom prst="ellipse">
            <a:avLst/>
          </a:prstGeom>
          <a:solidFill>
            <a:schemeClr val="accent2"/>
          </a:solidFill>
          <a:ln w="12700">
            <a:solidFill>
              <a:schemeClr val="accent2"/>
            </a:solidFill>
            <a:prstDash val="solid"/>
          </a:ln>
        </p:spPr>
      </p:sp>
      <p:pic>
        <p:nvPicPr>
          <p:cNvPr id="14" name="use-2-icon" descr="use-2">    </p:cNvPr>
          <p:cNvPicPr>
            <a:picLocks noChangeAspect="1"/>
          </p:cNvPicPr>
          <p:nvPr/>
        </p:nvPicPr>
        <p:blipFill>
          <a:blip r:embed="rId2"/>
          <a:stretch>
            <a:fillRect/>
          </a:stretch>
        </p:blipFill>
        <p:spPr>
          <a:xfrm>
            <a:off x="4662343" y="2056303"/>
            <a:ext cx="294803" cy="294803"/>
          </a:xfrm>
          <a:prstGeom prst="rect">
            <a:avLst/>
          </a:prstGeom>
        </p:spPr>
      </p:pic>
      <p:sp>
        <p:nvSpPr>
          <p:cNvPr id="15" name="use-2-heading"/>
          <p:cNvSpPr txBox="1"/>
          <p:nvPr/>
        </p:nvSpPr>
        <p:spPr>
          <a:xfrm>
            <a:off x="5230368" y="1920240"/>
            <a:ext cx="2423160" cy="566928"/>
          </a:xfrm>
          <a:prstGeom prst="rect">
            <a:avLst/>
          </a:prstGeom>
          <a:noFill/>
          <a:ln/>
        </p:spPr>
        <p:txBody>
          <a:bodyPr wrap="square" lIns="0" tIns="0" rIns="0" bIns="0" rtlCol="0" anchor="ctr"/>
          <a:lstStyle/>
          <a:p>
            <a:pPr indent="0" marL="0">
              <a:buNone/>
            </a:pPr>
            <a:r>
              <a:rPr lang="en-US" sz="1700" b="1" dirty="0">
                <a:solidFill>
                  <a:schemeClr val="tx1"/>
                </a:solidFill>
              </a:rPr>
              <a:t>PostgreSQL</a:t>
            </a:r>
            <a:endParaRPr lang="en-US" sz="1700" dirty="0"/>
          </a:p>
        </p:txBody>
      </p:sp>
      <p:sp>
        <p:nvSpPr>
          <p:cNvPr id="16" name="use-2-body"/>
          <p:cNvSpPr txBox="1"/>
          <p:nvPr/>
        </p:nvSpPr>
        <p:spPr>
          <a:xfrm>
            <a:off x="4526280" y="2606040"/>
            <a:ext cx="3108960" cy="960120"/>
          </a:xfrm>
          <a:prstGeom prst="rect">
            <a:avLst/>
          </a:prstGeom>
          <a:noFill/>
          <a:ln/>
        </p:spPr>
        <p:txBody>
          <a:bodyPr wrap="square" lIns="0" tIns="0" rIns="0" bIns="0" rtlCol="0" anchor="t"/>
          <a:lstStyle/>
          <a:p>
            <a:pPr indent="0" marL="0">
              <a:buNone/>
            </a:pPr>
            <a:r>
              <a:rPr lang="en-US" sz="1400" dirty="0">
                <a:solidFill>
                  <a:schemeClr val="tx2"/>
                </a:solidFill>
              </a:rPr>
              <a:t>Default index type: a multi-level B-tree; each level is a linked list of pages.</a:t>
            </a:r>
            <a:endParaRPr lang="en-US" sz="1400" dirty="0"/>
          </a:p>
        </p:txBody>
      </p:sp>
      <p:sp>
        <p:nvSpPr>
          <p:cNvPr id="17" name="use-3-card"/>
          <p:cNvSpPr/>
          <p:nvPr/>
        </p:nvSpPr>
        <p:spPr>
          <a:xfrm>
            <a:off x="8046720" y="1691640"/>
            <a:ext cx="3520440" cy="2011680"/>
          </a:xfrm>
          <a:prstGeom prst="roundRect">
            <a:avLst>
              <a:gd name="adj" fmla="val 3636"/>
            </a:avLst>
          </a:prstGeom>
          <a:solidFill>
            <a:schemeClr val="bg1"/>
          </a:solidFill>
          <a:ln w="12700">
            <a:solidFill>
              <a:srgbClr val="CBD5E1"/>
            </a:solidFill>
            <a:prstDash val="solid"/>
          </a:ln>
          <a:effectLst>
            <a:outerShdw sx="100000" sy="100000" kx="0" ky="0" algn="bl" rotWithShape="0" blurRad="76200" dist="25400" dir="5400000">
              <a:srgbClr val="000000">
                <a:alpha val="12000"/>
              </a:srgbClr>
            </a:outerShdw>
          </a:effectLst>
        </p:spPr>
      </p:sp>
      <p:sp>
        <p:nvSpPr>
          <p:cNvPr id="18" name="use-3-circle"/>
          <p:cNvSpPr/>
          <p:nvPr/>
        </p:nvSpPr>
        <p:spPr>
          <a:xfrm>
            <a:off x="8275320" y="1920240"/>
            <a:ext cx="566928" cy="566928"/>
          </a:xfrm>
          <a:prstGeom prst="ellipse">
            <a:avLst/>
          </a:prstGeom>
          <a:solidFill>
            <a:schemeClr val="accent2"/>
          </a:solidFill>
          <a:ln w="12700">
            <a:solidFill>
              <a:schemeClr val="accent2"/>
            </a:solidFill>
            <a:prstDash val="solid"/>
          </a:ln>
        </p:spPr>
      </p:sp>
      <p:pic>
        <p:nvPicPr>
          <p:cNvPr id="19" name="use-3-icon" descr="use-3">    </p:cNvPr>
          <p:cNvPicPr>
            <a:picLocks noChangeAspect="1"/>
          </p:cNvPicPr>
          <p:nvPr/>
        </p:nvPicPr>
        <p:blipFill>
          <a:blip r:embed="rId3"/>
          <a:stretch>
            <a:fillRect/>
          </a:stretch>
        </p:blipFill>
        <p:spPr>
          <a:xfrm>
            <a:off x="8411383" y="2056303"/>
            <a:ext cx="294803" cy="294803"/>
          </a:xfrm>
          <a:prstGeom prst="rect">
            <a:avLst/>
          </a:prstGeom>
        </p:spPr>
      </p:pic>
      <p:sp>
        <p:nvSpPr>
          <p:cNvPr id="20" name="use-3-heading"/>
          <p:cNvSpPr txBox="1"/>
          <p:nvPr/>
        </p:nvSpPr>
        <p:spPr>
          <a:xfrm>
            <a:off x="8979408" y="1920240"/>
            <a:ext cx="2423160" cy="566928"/>
          </a:xfrm>
          <a:prstGeom prst="rect">
            <a:avLst/>
          </a:prstGeom>
          <a:noFill/>
          <a:ln/>
        </p:spPr>
        <p:txBody>
          <a:bodyPr wrap="square" lIns="0" tIns="0" rIns="0" bIns="0" rtlCol="0" anchor="ctr"/>
          <a:lstStyle/>
          <a:p>
            <a:pPr indent="0" marL="0">
              <a:buNone/>
            </a:pPr>
            <a:r>
              <a:rPr lang="en-US" sz="1700" b="1" dirty="0">
                <a:solidFill>
                  <a:schemeClr val="tx1"/>
                </a:solidFill>
              </a:rPr>
              <a:t>SQL Server &amp; Azure SQL</a:t>
            </a:r>
            <a:endParaRPr lang="en-US" sz="1700" dirty="0"/>
          </a:p>
        </p:txBody>
      </p:sp>
      <p:sp>
        <p:nvSpPr>
          <p:cNvPr id="21" name="use-3-body"/>
          <p:cNvSpPr txBox="1"/>
          <p:nvPr/>
        </p:nvSpPr>
        <p:spPr>
          <a:xfrm>
            <a:off x="8275320" y="2606040"/>
            <a:ext cx="3108960" cy="960120"/>
          </a:xfrm>
          <a:prstGeom prst="rect">
            <a:avLst/>
          </a:prstGeom>
          <a:noFill/>
          <a:ln/>
        </p:spPr>
        <p:txBody>
          <a:bodyPr wrap="square" lIns="0" tIns="0" rIns="0" bIns="0" rtlCol="0" anchor="t"/>
          <a:lstStyle/>
          <a:p>
            <a:pPr indent="0" marL="0">
              <a:buNone/>
            </a:pPr>
            <a:r>
              <a:rPr lang="en-US" sz="1400" dirty="0">
                <a:solidFill>
                  <a:schemeClr val="tx2"/>
                </a:solidFill>
              </a:rPr>
              <a:t>Microsoft: rowstore indexes are organized as B+ trees (8 KB pages).</a:t>
            </a:r>
            <a:endParaRPr lang="en-US" sz="1400" dirty="0"/>
          </a:p>
        </p:txBody>
      </p:sp>
      <p:sp>
        <p:nvSpPr>
          <p:cNvPr id="22" name="use-4-card"/>
          <p:cNvSpPr/>
          <p:nvPr/>
        </p:nvSpPr>
        <p:spPr>
          <a:xfrm>
            <a:off x="548640" y="3931920"/>
            <a:ext cx="3520440" cy="2011680"/>
          </a:xfrm>
          <a:prstGeom prst="roundRect">
            <a:avLst>
              <a:gd name="adj" fmla="val 3636"/>
            </a:avLst>
          </a:prstGeom>
          <a:solidFill>
            <a:schemeClr val="bg1"/>
          </a:solidFill>
          <a:ln w="12700">
            <a:solidFill>
              <a:srgbClr val="CBD5E1"/>
            </a:solidFill>
            <a:prstDash val="solid"/>
          </a:ln>
          <a:effectLst>
            <a:outerShdw sx="100000" sy="100000" kx="0" ky="0" algn="bl" rotWithShape="0" blurRad="76200" dist="25400" dir="5400000">
              <a:srgbClr val="000000">
                <a:alpha val="12000"/>
              </a:srgbClr>
            </a:outerShdw>
          </a:effectLst>
        </p:spPr>
      </p:sp>
      <p:sp>
        <p:nvSpPr>
          <p:cNvPr id="23" name="use-4-circle"/>
          <p:cNvSpPr/>
          <p:nvPr/>
        </p:nvSpPr>
        <p:spPr>
          <a:xfrm>
            <a:off x="777240" y="4160520"/>
            <a:ext cx="566928" cy="566928"/>
          </a:xfrm>
          <a:prstGeom prst="ellipse">
            <a:avLst/>
          </a:prstGeom>
          <a:solidFill>
            <a:schemeClr val="accent1"/>
          </a:solidFill>
          <a:ln w="12700">
            <a:solidFill>
              <a:schemeClr val="accent1"/>
            </a:solidFill>
            <a:prstDash val="solid"/>
          </a:ln>
        </p:spPr>
      </p:sp>
      <p:pic>
        <p:nvPicPr>
          <p:cNvPr id="24" name="use-4-icon" descr="use-4">    </p:cNvPr>
          <p:cNvPicPr>
            <a:picLocks noChangeAspect="1"/>
          </p:cNvPicPr>
          <p:nvPr/>
        </p:nvPicPr>
        <p:blipFill>
          <a:blip r:embed="rId4"/>
          <a:stretch>
            <a:fillRect/>
          </a:stretch>
        </p:blipFill>
        <p:spPr>
          <a:xfrm>
            <a:off x="913303" y="4296583"/>
            <a:ext cx="294803" cy="294803"/>
          </a:xfrm>
          <a:prstGeom prst="rect">
            <a:avLst/>
          </a:prstGeom>
        </p:spPr>
      </p:pic>
      <p:sp>
        <p:nvSpPr>
          <p:cNvPr id="25" name="use-4-heading"/>
          <p:cNvSpPr txBox="1"/>
          <p:nvPr/>
        </p:nvSpPr>
        <p:spPr>
          <a:xfrm>
            <a:off x="1481328" y="4160520"/>
            <a:ext cx="2423160" cy="566928"/>
          </a:xfrm>
          <a:prstGeom prst="rect">
            <a:avLst/>
          </a:prstGeom>
          <a:noFill/>
          <a:ln/>
        </p:spPr>
        <p:txBody>
          <a:bodyPr wrap="square" lIns="0" tIns="0" rIns="0" bIns="0" rtlCol="0" anchor="ctr"/>
          <a:lstStyle/>
          <a:p>
            <a:pPr indent="0" marL="0">
              <a:buNone/>
            </a:pPr>
            <a:r>
              <a:rPr lang="en-US" sz="1700" b="1" dirty="0">
                <a:solidFill>
                  <a:schemeClr val="tx1"/>
                </a:solidFill>
              </a:rPr>
              <a:t>SQLite</a:t>
            </a:r>
            <a:endParaRPr lang="en-US" sz="1700" dirty="0"/>
          </a:p>
        </p:txBody>
      </p:sp>
      <p:sp>
        <p:nvSpPr>
          <p:cNvPr id="26" name="use-4-body"/>
          <p:cNvSpPr txBox="1"/>
          <p:nvPr/>
        </p:nvSpPr>
        <p:spPr>
          <a:xfrm>
            <a:off x="777240" y="4846320"/>
            <a:ext cx="3108960" cy="960120"/>
          </a:xfrm>
          <a:prstGeom prst="rect">
            <a:avLst/>
          </a:prstGeom>
          <a:noFill/>
          <a:ln/>
        </p:spPr>
        <p:txBody>
          <a:bodyPr wrap="square" lIns="0" tIns="0" rIns="0" bIns="0" rtlCol="0" anchor="t"/>
          <a:lstStyle/>
          <a:p>
            <a:pPr indent="0" marL="0">
              <a:buNone/>
            </a:pPr>
            <a:r>
              <a:rPr lang="en-US" sz="1400" dirty="0">
                <a:solidFill>
                  <a:schemeClr val="tx2"/>
                </a:solidFill>
              </a:rPr>
              <a:t>Interior pages hold only keys; all table data is in the leaves. Runs on almost every phone.</a:t>
            </a:r>
            <a:endParaRPr lang="en-US" sz="1400" dirty="0"/>
          </a:p>
        </p:txBody>
      </p:sp>
      <p:sp>
        <p:nvSpPr>
          <p:cNvPr id="27" name="use-5-card"/>
          <p:cNvSpPr/>
          <p:nvPr/>
        </p:nvSpPr>
        <p:spPr>
          <a:xfrm>
            <a:off x="4297680" y="3931920"/>
            <a:ext cx="3520440" cy="2011680"/>
          </a:xfrm>
          <a:prstGeom prst="roundRect">
            <a:avLst>
              <a:gd name="adj" fmla="val 3636"/>
            </a:avLst>
          </a:prstGeom>
          <a:solidFill>
            <a:schemeClr val="bg1"/>
          </a:solidFill>
          <a:ln w="12700">
            <a:solidFill>
              <a:srgbClr val="CBD5E1"/>
            </a:solidFill>
            <a:prstDash val="solid"/>
          </a:ln>
          <a:effectLst>
            <a:outerShdw sx="100000" sy="100000" kx="0" ky="0" algn="bl" rotWithShape="0" blurRad="76200" dist="25400" dir="5400000">
              <a:srgbClr val="000000">
                <a:alpha val="12000"/>
              </a:srgbClr>
            </a:outerShdw>
          </a:effectLst>
        </p:spPr>
      </p:sp>
      <p:sp>
        <p:nvSpPr>
          <p:cNvPr id="28" name="use-5-circle"/>
          <p:cNvSpPr/>
          <p:nvPr/>
        </p:nvSpPr>
        <p:spPr>
          <a:xfrm>
            <a:off x="4526280" y="4160520"/>
            <a:ext cx="566928" cy="566928"/>
          </a:xfrm>
          <a:prstGeom prst="ellipse">
            <a:avLst/>
          </a:prstGeom>
          <a:solidFill>
            <a:schemeClr val="accent1"/>
          </a:solidFill>
          <a:ln w="12700">
            <a:solidFill>
              <a:schemeClr val="accent1"/>
            </a:solidFill>
            <a:prstDash val="solid"/>
          </a:ln>
        </p:spPr>
      </p:sp>
      <p:pic>
        <p:nvPicPr>
          <p:cNvPr id="29" name="use-5-icon" descr="use-5">    </p:cNvPr>
          <p:cNvPicPr>
            <a:picLocks noChangeAspect="1"/>
          </p:cNvPicPr>
          <p:nvPr/>
        </p:nvPicPr>
        <p:blipFill>
          <a:blip r:embed="rId5"/>
          <a:stretch>
            <a:fillRect/>
          </a:stretch>
        </p:blipFill>
        <p:spPr>
          <a:xfrm>
            <a:off x="4662343" y="4296583"/>
            <a:ext cx="294803" cy="294803"/>
          </a:xfrm>
          <a:prstGeom prst="rect">
            <a:avLst/>
          </a:prstGeom>
        </p:spPr>
      </p:pic>
      <p:sp>
        <p:nvSpPr>
          <p:cNvPr id="30" name="use-5-heading"/>
          <p:cNvSpPr txBox="1"/>
          <p:nvPr/>
        </p:nvSpPr>
        <p:spPr>
          <a:xfrm>
            <a:off x="5230368" y="4160520"/>
            <a:ext cx="2423160" cy="566928"/>
          </a:xfrm>
          <a:prstGeom prst="rect">
            <a:avLst/>
          </a:prstGeom>
          <a:noFill/>
          <a:ln/>
        </p:spPr>
        <p:txBody>
          <a:bodyPr wrap="square" lIns="0" tIns="0" rIns="0" bIns="0" rtlCol="0" anchor="ctr"/>
          <a:lstStyle/>
          <a:p>
            <a:pPr indent="0" marL="0">
              <a:buNone/>
            </a:pPr>
            <a:r>
              <a:rPr lang="en-US" sz="1700" b="1" dirty="0">
                <a:solidFill>
                  <a:schemeClr val="tx1"/>
                </a:solidFill>
              </a:rPr>
              <a:t>Btrfs (Linux)</a:t>
            </a:r>
            <a:endParaRPr lang="en-US" sz="1700" dirty="0"/>
          </a:p>
        </p:txBody>
      </p:sp>
      <p:sp>
        <p:nvSpPr>
          <p:cNvPr id="31" name="use-5-body"/>
          <p:cNvSpPr txBox="1"/>
          <p:nvPr/>
        </p:nvSpPr>
        <p:spPr>
          <a:xfrm>
            <a:off x="4526280" y="4846320"/>
            <a:ext cx="3108960" cy="960120"/>
          </a:xfrm>
          <a:prstGeom prst="rect">
            <a:avLst/>
          </a:prstGeom>
          <a:noFill/>
          <a:ln/>
        </p:spPr>
        <p:txBody>
          <a:bodyPr wrap="square" lIns="0" tIns="0" rIns="0" bIns="0" rtlCol="0" anchor="t"/>
          <a:lstStyle/>
          <a:p>
            <a:pPr indent="0" marL="0">
              <a:buNone/>
            </a:pPr>
            <a:r>
              <a:rPr lang="en-US" sz="1400" dirty="0">
                <a:solidFill>
                  <a:schemeClr val="tx2"/>
                </a:solidFill>
              </a:rPr>
              <a:t>The “B-tree file system”: all metadata kept in copy-on-write B-trees.</a:t>
            </a:r>
            <a:endParaRPr lang="en-US" sz="1400" dirty="0"/>
          </a:p>
        </p:txBody>
      </p:sp>
      <p:sp>
        <p:nvSpPr>
          <p:cNvPr id="32" name="use-6-card"/>
          <p:cNvSpPr/>
          <p:nvPr/>
        </p:nvSpPr>
        <p:spPr>
          <a:xfrm>
            <a:off x="8046720" y="3931920"/>
            <a:ext cx="3520440" cy="2011680"/>
          </a:xfrm>
          <a:prstGeom prst="roundRect">
            <a:avLst>
              <a:gd name="adj" fmla="val 3636"/>
            </a:avLst>
          </a:prstGeom>
          <a:solidFill>
            <a:schemeClr val="bg1"/>
          </a:solidFill>
          <a:ln w="12700">
            <a:solidFill>
              <a:srgbClr val="CBD5E1"/>
            </a:solidFill>
            <a:prstDash val="solid"/>
          </a:ln>
          <a:effectLst>
            <a:outerShdw sx="100000" sy="100000" kx="0" ky="0" algn="bl" rotWithShape="0" blurRad="76200" dist="25400" dir="5400000">
              <a:srgbClr val="000000">
                <a:alpha val="12000"/>
              </a:srgbClr>
            </a:outerShdw>
          </a:effectLst>
        </p:spPr>
      </p:sp>
      <p:sp>
        <p:nvSpPr>
          <p:cNvPr id="33" name="use-6-circle"/>
          <p:cNvSpPr/>
          <p:nvPr/>
        </p:nvSpPr>
        <p:spPr>
          <a:xfrm>
            <a:off x="8275320" y="4160520"/>
            <a:ext cx="566928" cy="566928"/>
          </a:xfrm>
          <a:prstGeom prst="ellipse">
            <a:avLst/>
          </a:prstGeom>
          <a:solidFill>
            <a:schemeClr val="accent3"/>
          </a:solidFill>
          <a:ln w="12700">
            <a:solidFill>
              <a:schemeClr val="accent3"/>
            </a:solidFill>
            <a:prstDash val="solid"/>
          </a:ln>
        </p:spPr>
      </p:sp>
      <p:pic>
        <p:nvPicPr>
          <p:cNvPr id="34" name="use-6-icon" descr="use-6">    </p:cNvPr>
          <p:cNvPicPr>
            <a:picLocks noChangeAspect="1"/>
          </p:cNvPicPr>
          <p:nvPr/>
        </p:nvPicPr>
        <p:blipFill>
          <a:blip r:embed="rId6"/>
          <a:stretch>
            <a:fillRect/>
          </a:stretch>
        </p:blipFill>
        <p:spPr>
          <a:xfrm>
            <a:off x="8411383" y="4296583"/>
            <a:ext cx="294803" cy="294803"/>
          </a:xfrm>
          <a:prstGeom prst="rect">
            <a:avLst/>
          </a:prstGeom>
        </p:spPr>
      </p:pic>
      <p:sp>
        <p:nvSpPr>
          <p:cNvPr id="35" name="use-6-heading"/>
          <p:cNvSpPr txBox="1"/>
          <p:nvPr/>
        </p:nvSpPr>
        <p:spPr>
          <a:xfrm>
            <a:off x="8979408" y="4160520"/>
            <a:ext cx="2423160" cy="566928"/>
          </a:xfrm>
          <a:prstGeom prst="rect">
            <a:avLst/>
          </a:prstGeom>
          <a:noFill/>
          <a:ln/>
        </p:spPr>
        <p:txBody>
          <a:bodyPr wrap="square" lIns="0" tIns="0" rIns="0" bIns="0" rtlCol="0" anchor="ctr"/>
          <a:lstStyle/>
          <a:p>
            <a:pPr indent="0" marL="0">
              <a:buNone/>
            </a:pPr>
            <a:r>
              <a:rPr lang="en-US" sz="1700" b="1" dirty="0">
                <a:solidFill>
                  <a:schemeClr val="tx1"/>
                </a:solidFill>
              </a:rPr>
              <a:t>Amazon DynamoDB</a:t>
            </a:r>
            <a:endParaRPr lang="en-US" sz="1700" dirty="0"/>
          </a:p>
        </p:txBody>
      </p:sp>
      <p:sp>
        <p:nvSpPr>
          <p:cNvPr id="36" name="use-6-body"/>
          <p:cNvSpPr txBox="1"/>
          <p:nvPr/>
        </p:nvSpPr>
        <p:spPr>
          <a:xfrm>
            <a:off x="8275320" y="4846320"/>
            <a:ext cx="3108960" cy="960120"/>
          </a:xfrm>
          <a:prstGeom prst="rect">
            <a:avLst/>
          </a:prstGeom>
          <a:noFill/>
          <a:ln/>
        </p:spPr>
        <p:txBody>
          <a:bodyPr wrap="square" lIns="0" tIns="0" rIns="0" bIns="0" rtlCol="0" anchor="t"/>
          <a:lstStyle/>
          <a:p>
            <a:pPr indent="0" marL="0">
              <a:buNone/>
            </a:pPr>
            <a:r>
              <a:rPr lang="en-US" sz="1400" dirty="0">
                <a:solidFill>
                  <a:schemeClr val="tx2"/>
                </a:solidFill>
              </a:rPr>
              <a:t>Each storage node keeps its partition data in a B-tree (USENIX ATC 2022).</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05</a:t>
            </a:r>
            <a:endParaRPr lang="en-US" sz="1100" dirty="0"/>
          </a:p>
        </p:txBody>
      </p:sp>
      <p:sp>
        <p:nvSpPr>
          <p:cNvPr id="4" name="kicker-label-cell"/>
          <p:cNvSpPr/>
          <p:nvPr/>
        </p:nvSpPr>
        <p:spPr>
          <a:xfrm>
            <a:off x="1005840" y="274320"/>
            <a:ext cx="1788566"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788566"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REAL WORLD &amp; CLOUD</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Why cloud databases depend on it</a:t>
            </a:r>
            <a:endParaRPr lang="en-US" sz="3200" dirty="0"/>
          </a:p>
        </p:txBody>
      </p:sp>
      <p:pic>
        <p:nvPicPr>
          <p:cNvPr id="7" name="Where the B+ tree sits in a cloud database read path" descr="Where the B+ tree sits in a cloud database read path">    </p:cNvPr>
          <p:cNvPicPr>
            <a:picLocks noChangeAspect="1"/>
          </p:cNvPicPr>
          <p:nvPr/>
        </p:nvPicPr>
        <p:blipFill>
          <a:blip r:embed="rId1"/>
          <a:stretch>
            <a:fillRect/>
          </a:stretch>
        </p:blipFill>
        <p:spPr>
          <a:xfrm>
            <a:off x="1788867" y="1554480"/>
            <a:ext cx="8583785" cy="4709160"/>
          </a:xfrm>
          <a:prstGeom prst="rect">
            <a:avLst/>
          </a:prstGeom>
        </p:spPr>
      </p:pic>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06</a:t>
            </a:r>
            <a:endParaRPr lang="en-US" sz="1100" dirty="0"/>
          </a:p>
        </p:txBody>
      </p:sp>
      <p:sp>
        <p:nvSpPr>
          <p:cNvPr id="4" name="kicker-label-cell"/>
          <p:cNvSpPr/>
          <p:nvPr/>
        </p:nvSpPr>
        <p:spPr>
          <a:xfrm>
            <a:off x="1005840" y="274320"/>
            <a:ext cx="1536192"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536192"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C++ APPLICATION</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CloudVault Record Index</a:t>
            </a:r>
            <a:endParaRPr lang="en-US" sz="3200" dirty="0"/>
          </a:p>
        </p:txBody>
      </p:sp>
      <p:pic>
        <p:nvPicPr>
          <p:cNvPr id="7" name="Application start-up banner and menu" descr="Application start-up banner and menu">    </p:cNvPr>
          <p:cNvPicPr>
            <a:picLocks noChangeAspect="1"/>
          </p:cNvPicPr>
          <p:nvPr/>
        </p:nvPicPr>
        <p:blipFill>
          <a:blip r:embed="rId1"/>
          <a:stretch>
            <a:fillRect/>
          </a:stretch>
        </p:blipFill>
        <p:spPr>
          <a:xfrm>
            <a:off x="548640" y="1641709"/>
            <a:ext cx="5943600" cy="4488982"/>
          </a:xfrm>
          <a:prstGeom prst="rect">
            <a:avLst/>
          </a:prstGeom>
        </p:spPr>
      </p:pic>
      <p:sp>
        <p:nvSpPr>
          <p:cNvPr id="8" name="feature-1-circle"/>
          <p:cNvSpPr/>
          <p:nvPr/>
        </p:nvSpPr>
        <p:spPr>
          <a:xfrm>
            <a:off x="6812280" y="1691640"/>
            <a:ext cx="548640" cy="548640"/>
          </a:xfrm>
          <a:prstGeom prst="ellipse">
            <a:avLst/>
          </a:prstGeom>
          <a:solidFill>
            <a:schemeClr val="accent2"/>
          </a:solidFill>
          <a:ln w="12700">
            <a:solidFill>
              <a:schemeClr val="accent2"/>
            </a:solidFill>
            <a:prstDash val="solid"/>
          </a:ln>
        </p:spPr>
      </p:sp>
      <p:pic>
        <p:nvPicPr>
          <p:cNvPr id="9" name="feature-1-icon" descr="feature-1">    </p:cNvPr>
          <p:cNvPicPr>
            <a:picLocks noChangeAspect="1"/>
          </p:cNvPicPr>
          <p:nvPr/>
        </p:nvPicPr>
        <p:blipFill>
          <a:blip r:embed="rId2"/>
          <a:stretch>
            <a:fillRect/>
          </a:stretch>
        </p:blipFill>
        <p:spPr>
          <a:xfrm>
            <a:off x="6943954" y="1823314"/>
            <a:ext cx="285293" cy="285293"/>
          </a:xfrm>
          <a:prstGeom prst="rect">
            <a:avLst/>
          </a:prstGeom>
        </p:spPr>
      </p:pic>
      <p:sp>
        <p:nvSpPr>
          <p:cNvPr id="10" name="feature-1-heading"/>
          <p:cNvSpPr txBox="1"/>
          <p:nvPr/>
        </p:nvSpPr>
        <p:spPr>
          <a:xfrm>
            <a:off x="7543800" y="1645920"/>
            <a:ext cx="4069080" cy="365760"/>
          </a:xfrm>
          <a:prstGeom prst="rect">
            <a:avLst/>
          </a:prstGeom>
          <a:noFill/>
          <a:ln/>
        </p:spPr>
        <p:txBody>
          <a:bodyPr wrap="square" lIns="0" tIns="0" rIns="0" bIns="0" rtlCol="0" anchor="ctr"/>
          <a:lstStyle/>
          <a:p>
            <a:pPr indent="0" marL="0">
              <a:buNone/>
            </a:pPr>
            <a:r>
              <a:rPr lang="en-US" sz="1700" b="1" dirty="0">
                <a:solidFill>
                  <a:schemeClr val="tx1"/>
                </a:solidFill>
              </a:rPr>
              <a:t>Simulates a cloud metadata index</a:t>
            </a:r>
            <a:endParaRPr lang="en-US" sz="1700" dirty="0"/>
          </a:p>
        </p:txBody>
      </p:sp>
      <p:sp>
        <p:nvSpPr>
          <p:cNvPr id="11" name="feature-1-body"/>
          <p:cNvSpPr txBox="1"/>
          <p:nvPr/>
        </p:nvSpPr>
        <p:spPr>
          <a:xfrm>
            <a:off x="7543800" y="2029968"/>
            <a:ext cx="4069080" cy="658368"/>
          </a:xfrm>
          <a:prstGeom prst="rect">
            <a:avLst/>
          </a:prstGeom>
          <a:noFill/>
          <a:ln/>
        </p:spPr>
        <p:txBody>
          <a:bodyPr wrap="square" lIns="0" tIns="0" rIns="0" bIns="0" rtlCol="0" anchor="t"/>
          <a:lstStyle/>
          <a:p>
            <a:pPr indent="0" marL="0">
              <a:buNone/>
            </a:pPr>
            <a:r>
              <a:rPr lang="en-US" sz="1400" dirty="0">
                <a:solidFill>
                  <a:schemeClr val="tx2"/>
                </a:solidFill>
              </a:rPr>
              <a:t>Each record is a cloud resource — tenant, type, region, size, date — keyed by a numeric ID.</a:t>
            </a:r>
            <a:endParaRPr lang="en-US" sz="1400" dirty="0"/>
          </a:p>
        </p:txBody>
      </p:sp>
      <p:sp>
        <p:nvSpPr>
          <p:cNvPr id="12" name="feature-2-circle"/>
          <p:cNvSpPr/>
          <p:nvPr/>
        </p:nvSpPr>
        <p:spPr>
          <a:xfrm>
            <a:off x="6812280" y="2834640"/>
            <a:ext cx="548640" cy="548640"/>
          </a:xfrm>
          <a:prstGeom prst="ellipse">
            <a:avLst/>
          </a:prstGeom>
          <a:solidFill>
            <a:schemeClr val="accent2"/>
          </a:solidFill>
          <a:ln w="12700">
            <a:solidFill>
              <a:schemeClr val="accent2"/>
            </a:solidFill>
            <a:prstDash val="solid"/>
          </a:ln>
        </p:spPr>
      </p:sp>
      <p:pic>
        <p:nvPicPr>
          <p:cNvPr id="13" name="feature-2-icon" descr="feature-2">    </p:cNvPr>
          <p:cNvPicPr>
            <a:picLocks noChangeAspect="1"/>
          </p:cNvPicPr>
          <p:nvPr/>
        </p:nvPicPr>
        <p:blipFill>
          <a:blip r:embed="rId3"/>
          <a:stretch>
            <a:fillRect/>
          </a:stretch>
        </p:blipFill>
        <p:spPr>
          <a:xfrm>
            <a:off x="6943954" y="2966314"/>
            <a:ext cx="285293" cy="285293"/>
          </a:xfrm>
          <a:prstGeom prst="rect">
            <a:avLst/>
          </a:prstGeom>
        </p:spPr>
      </p:pic>
      <p:sp>
        <p:nvSpPr>
          <p:cNvPr id="14" name="feature-2-heading"/>
          <p:cNvSpPr txBox="1"/>
          <p:nvPr/>
        </p:nvSpPr>
        <p:spPr>
          <a:xfrm>
            <a:off x="7543800" y="2788920"/>
            <a:ext cx="4069080" cy="365760"/>
          </a:xfrm>
          <a:prstGeom prst="rect">
            <a:avLst/>
          </a:prstGeom>
          <a:noFill/>
          <a:ln/>
        </p:spPr>
        <p:txBody>
          <a:bodyPr wrap="square" lIns="0" tIns="0" rIns="0" bIns="0" rtlCol="0" anchor="ctr"/>
          <a:lstStyle/>
          <a:p>
            <a:pPr indent="0" marL="0">
              <a:buNone/>
            </a:pPr>
            <a:r>
              <a:rPr lang="en-US" sz="1700" b="1" dirty="0">
                <a:solidFill>
                  <a:schemeClr val="tx1"/>
                </a:solidFill>
              </a:rPr>
              <a:t>12 menu operations</a:t>
            </a:r>
            <a:endParaRPr lang="en-US" sz="1700" dirty="0"/>
          </a:p>
        </p:txBody>
      </p:sp>
      <p:sp>
        <p:nvSpPr>
          <p:cNvPr id="15" name="feature-2-body"/>
          <p:cNvSpPr txBox="1"/>
          <p:nvPr/>
        </p:nvSpPr>
        <p:spPr>
          <a:xfrm>
            <a:off x="7543800" y="3172968"/>
            <a:ext cx="4069080" cy="658368"/>
          </a:xfrm>
          <a:prstGeom prst="rect">
            <a:avLst/>
          </a:prstGeom>
          <a:noFill/>
          <a:ln/>
        </p:spPr>
        <p:txBody>
          <a:bodyPr wrap="square" lIns="0" tIns="0" rIns="0" bIns="0" rtlCol="0" anchor="t"/>
          <a:lstStyle/>
          <a:p>
            <a:pPr indent="0" marL="0">
              <a:buNone/>
            </a:pPr>
            <a:r>
              <a:rPr lang="en-US" sz="1400" dirty="0">
                <a:solidFill>
                  <a:schemeClr val="tx2"/>
                </a:solidFill>
              </a:rPr>
              <a:t>Load, add, search, range search, update, delete, display, stats, index vs scan, 1M benchmark, rebuild.</a:t>
            </a:r>
            <a:endParaRPr lang="en-US" sz="1400" dirty="0"/>
          </a:p>
        </p:txBody>
      </p:sp>
      <p:sp>
        <p:nvSpPr>
          <p:cNvPr id="16" name="feature-3-circle"/>
          <p:cNvSpPr/>
          <p:nvPr/>
        </p:nvSpPr>
        <p:spPr>
          <a:xfrm>
            <a:off x="6812280" y="3977640"/>
            <a:ext cx="548640" cy="548640"/>
          </a:xfrm>
          <a:prstGeom prst="ellipse">
            <a:avLst/>
          </a:prstGeom>
          <a:solidFill>
            <a:schemeClr val="accent1"/>
          </a:solidFill>
          <a:ln w="12700">
            <a:solidFill>
              <a:schemeClr val="accent1"/>
            </a:solidFill>
            <a:prstDash val="solid"/>
          </a:ln>
        </p:spPr>
      </p:sp>
      <p:pic>
        <p:nvPicPr>
          <p:cNvPr id="17" name="feature-3-icon" descr="feature-3">    </p:cNvPr>
          <p:cNvPicPr>
            <a:picLocks noChangeAspect="1"/>
          </p:cNvPicPr>
          <p:nvPr/>
        </p:nvPicPr>
        <p:blipFill>
          <a:blip r:embed="rId4"/>
          <a:stretch>
            <a:fillRect/>
          </a:stretch>
        </p:blipFill>
        <p:spPr>
          <a:xfrm>
            <a:off x="6943954" y="4109314"/>
            <a:ext cx="285293" cy="285293"/>
          </a:xfrm>
          <a:prstGeom prst="rect">
            <a:avLst/>
          </a:prstGeom>
        </p:spPr>
      </p:pic>
      <p:sp>
        <p:nvSpPr>
          <p:cNvPr id="18" name="feature-3-heading"/>
          <p:cNvSpPr txBox="1"/>
          <p:nvPr/>
        </p:nvSpPr>
        <p:spPr>
          <a:xfrm>
            <a:off x="7543800" y="3931920"/>
            <a:ext cx="4069080" cy="365760"/>
          </a:xfrm>
          <a:prstGeom prst="rect">
            <a:avLst/>
          </a:prstGeom>
          <a:noFill/>
          <a:ln/>
        </p:spPr>
        <p:txBody>
          <a:bodyPr wrap="square" lIns="0" tIns="0" rIns="0" bIns="0" rtlCol="0" anchor="ctr"/>
          <a:lstStyle/>
          <a:p>
            <a:pPr indent="0" marL="0">
              <a:buNone/>
            </a:pPr>
            <a:r>
              <a:rPr lang="en-US" sz="1700" b="1" dirty="0">
                <a:solidFill>
                  <a:schemeClr val="tx1"/>
                </a:solidFill>
              </a:rPr>
              <a:t>Shows the tree working</a:t>
            </a:r>
            <a:endParaRPr lang="en-US" sz="1700" dirty="0"/>
          </a:p>
        </p:txBody>
      </p:sp>
      <p:sp>
        <p:nvSpPr>
          <p:cNvPr id="19" name="feature-3-body"/>
          <p:cNvSpPr txBox="1"/>
          <p:nvPr/>
        </p:nvSpPr>
        <p:spPr>
          <a:xfrm>
            <a:off x="7543800" y="4315968"/>
            <a:ext cx="4069080" cy="658368"/>
          </a:xfrm>
          <a:prstGeom prst="rect">
            <a:avLst/>
          </a:prstGeom>
          <a:noFill/>
          <a:ln/>
        </p:spPr>
        <p:txBody>
          <a:bodyPr wrap="square" lIns="0" tIns="0" rIns="0" bIns="0" rtlCol="0" anchor="t"/>
          <a:lstStyle/>
          <a:p>
            <a:pPr indent="0" marL="0">
              <a:buNone/>
            </a:pPr>
            <a:r>
              <a:rPr lang="en-US" sz="1400" dirty="0">
                <a:solidFill>
                  <a:schemeClr val="tx2"/>
                </a:solidFill>
              </a:rPr>
              <a:t>Prints the search path and every split, merge and borrow as it happens.</a:t>
            </a:r>
            <a:endParaRPr lang="en-US" sz="1400" dirty="0"/>
          </a:p>
        </p:txBody>
      </p:sp>
      <p:sp>
        <p:nvSpPr>
          <p:cNvPr id="20" name="feature-4-circle"/>
          <p:cNvSpPr/>
          <p:nvPr/>
        </p:nvSpPr>
        <p:spPr>
          <a:xfrm>
            <a:off x="6812280" y="5120640"/>
            <a:ext cx="548640" cy="548640"/>
          </a:xfrm>
          <a:prstGeom prst="ellipse">
            <a:avLst/>
          </a:prstGeom>
          <a:solidFill>
            <a:schemeClr val="accent1"/>
          </a:solidFill>
          <a:ln w="12700">
            <a:solidFill>
              <a:schemeClr val="accent1"/>
            </a:solidFill>
            <a:prstDash val="solid"/>
          </a:ln>
        </p:spPr>
      </p:sp>
      <p:pic>
        <p:nvPicPr>
          <p:cNvPr id="21" name="feature-4-icon" descr="feature-4">    </p:cNvPr>
          <p:cNvPicPr>
            <a:picLocks noChangeAspect="1"/>
          </p:cNvPicPr>
          <p:nvPr/>
        </p:nvPicPr>
        <p:blipFill>
          <a:blip r:embed="rId5"/>
          <a:stretch>
            <a:fillRect/>
          </a:stretch>
        </p:blipFill>
        <p:spPr>
          <a:xfrm>
            <a:off x="6943954" y="5252314"/>
            <a:ext cx="285293" cy="285293"/>
          </a:xfrm>
          <a:prstGeom prst="rect">
            <a:avLst/>
          </a:prstGeom>
        </p:spPr>
      </p:pic>
      <p:sp>
        <p:nvSpPr>
          <p:cNvPr id="22" name="feature-4-heading"/>
          <p:cNvSpPr txBox="1"/>
          <p:nvPr/>
        </p:nvSpPr>
        <p:spPr>
          <a:xfrm>
            <a:off x="7543800" y="5074920"/>
            <a:ext cx="4069080" cy="365760"/>
          </a:xfrm>
          <a:prstGeom prst="rect">
            <a:avLst/>
          </a:prstGeom>
          <a:noFill/>
          <a:ln/>
        </p:spPr>
        <p:txBody>
          <a:bodyPr wrap="square" lIns="0" tIns="0" rIns="0" bIns="0" rtlCol="0" anchor="ctr"/>
          <a:lstStyle/>
          <a:p>
            <a:pPr indent="0" marL="0">
              <a:buNone/>
            </a:pPr>
            <a:r>
              <a:rPr lang="en-US" sz="1700" b="1" dirty="0">
                <a:solidFill>
                  <a:schemeClr val="tx1"/>
                </a:solidFill>
              </a:rPr>
              <a:t>Never crashes on bad input</a:t>
            </a:r>
            <a:endParaRPr lang="en-US" sz="1700" dirty="0"/>
          </a:p>
        </p:txBody>
      </p:sp>
      <p:sp>
        <p:nvSpPr>
          <p:cNvPr id="23" name="feature-4-body"/>
          <p:cNvSpPr txBox="1"/>
          <p:nvPr/>
        </p:nvSpPr>
        <p:spPr>
          <a:xfrm>
            <a:off x="7543800" y="5458968"/>
            <a:ext cx="4069080" cy="658368"/>
          </a:xfrm>
          <a:prstGeom prst="rect">
            <a:avLst/>
          </a:prstGeom>
          <a:noFill/>
          <a:ln/>
        </p:spPr>
        <p:txBody>
          <a:bodyPr wrap="square" lIns="0" tIns="0" rIns="0" bIns="0" rtlCol="0" anchor="t"/>
          <a:lstStyle/>
          <a:p>
            <a:pPr indent="0" marL="0">
              <a:buNone/>
            </a:pPr>
            <a:r>
              <a:rPr lang="en-US" sz="1400" dirty="0">
                <a:solidFill>
                  <a:schemeClr val="tx2"/>
                </a:solidFill>
              </a:rPr>
              <a:t>Every input is validated and re-prompted; edge cases are handled with clear messages.</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06</a:t>
            </a:r>
            <a:endParaRPr lang="en-US" sz="1100" dirty="0"/>
          </a:p>
        </p:txBody>
      </p:sp>
      <p:sp>
        <p:nvSpPr>
          <p:cNvPr id="4" name="kicker-label-cell"/>
          <p:cNvSpPr/>
          <p:nvPr/>
        </p:nvSpPr>
        <p:spPr>
          <a:xfrm>
            <a:off x="1005840" y="274320"/>
            <a:ext cx="1536192"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536192"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C++ APPLICATION</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Design: data structure separate from the menu</a:t>
            </a:r>
            <a:endParaRPr lang="en-US" sz="3200" dirty="0"/>
          </a:p>
        </p:txBody>
      </p:sp>
      <p:pic>
        <p:nvPicPr>
          <p:cNvPr id="7" name="UML class diagram" descr="UML class diagram">    </p:cNvPr>
          <p:cNvPicPr>
            <a:picLocks noChangeAspect="1"/>
          </p:cNvPicPr>
          <p:nvPr/>
        </p:nvPicPr>
        <p:blipFill>
          <a:blip r:embed="rId1"/>
          <a:stretch>
            <a:fillRect/>
          </a:stretch>
        </p:blipFill>
        <p:spPr>
          <a:xfrm>
            <a:off x="656039" y="1554480"/>
            <a:ext cx="7374722" cy="4709160"/>
          </a:xfrm>
          <a:prstGeom prst="rect">
            <a:avLst/>
          </a:prstGeom>
        </p:spPr>
      </p:pic>
      <p:sp>
        <p:nvSpPr>
          <p:cNvPr id="8" name="part-1-card"/>
          <p:cNvSpPr/>
          <p:nvPr/>
        </p:nvSpPr>
        <p:spPr>
          <a:xfrm>
            <a:off x="8412480" y="1600200"/>
            <a:ext cx="3200400" cy="1024128"/>
          </a:xfrm>
          <a:prstGeom prst="roundRect">
            <a:avLst>
              <a:gd name="adj" fmla="val 7143"/>
            </a:avLst>
          </a:prstGeom>
          <a:solidFill>
            <a:schemeClr val="bg2"/>
          </a:solidFill>
          <a:ln w="12700">
            <a:solidFill>
              <a:srgbClr val="CBD5E1"/>
            </a:solidFill>
            <a:prstDash val="solid"/>
          </a:ln>
        </p:spPr>
      </p:sp>
      <p:sp>
        <p:nvSpPr>
          <p:cNvPr id="9" name="part-1-name"/>
          <p:cNvSpPr txBox="1"/>
          <p:nvPr/>
        </p:nvSpPr>
        <p:spPr>
          <a:xfrm>
            <a:off x="8577072" y="1691640"/>
            <a:ext cx="2880360" cy="310896"/>
          </a:xfrm>
          <a:prstGeom prst="rect">
            <a:avLst/>
          </a:prstGeom>
          <a:noFill/>
          <a:ln/>
        </p:spPr>
        <p:txBody>
          <a:bodyPr wrap="square" lIns="0" tIns="0" rIns="0" bIns="0" rtlCol="0" anchor="ctr"/>
          <a:lstStyle/>
          <a:p>
            <a:pPr indent="0" marL="0">
              <a:buNone/>
            </a:pPr>
            <a:r>
              <a:rPr lang="en-US" sz="1500" b="1" dirty="0">
                <a:solidFill>
                  <a:schemeClr val="accent2"/>
                </a:solidFill>
                <a:latin typeface="Courier New" pitchFamily="34" charset="0"/>
                <a:ea typeface="Courier New" pitchFamily="34" charset="-122"/>
                <a:cs typeface="Courier New" pitchFamily="34" charset="-120"/>
              </a:rPr>
              <a:t>BPlusTree</a:t>
            </a:r>
            <a:endParaRPr lang="en-US" sz="1500" dirty="0"/>
          </a:p>
        </p:txBody>
      </p:sp>
      <p:sp>
        <p:nvSpPr>
          <p:cNvPr id="10" name="part-1-desc"/>
          <p:cNvSpPr txBox="1"/>
          <p:nvPr/>
        </p:nvSpPr>
        <p:spPr>
          <a:xfrm>
            <a:off x="8577072" y="2011680"/>
            <a:ext cx="2880360" cy="566928"/>
          </a:xfrm>
          <a:prstGeom prst="rect">
            <a:avLst/>
          </a:prstGeom>
          <a:noFill/>
          <a:ln/>
        </p:spPr>
        <p:txBody>
          <a:bodyPr wrap="square" lIns="0" tIns="0" rIns="0" bIns="0" rtlCol="0" anchor="t"/>
          <a:lstStyle/>
          <a:p>
            <a:pPr indent="0" marL="0">
              <a:buNone/>
            </a:pPr>
            <a:r>
              <a:rPr lang="en-US" sz="1200" dirty="0">
                <a:solidFill>
                  <a:schemeClr val="tx2"/>
                </a:solidFill>
              </a:rPr>
              <a:t>The data structure: nested Node, recursive insert/delete, split, borrow, merge, validate()</a:t>
            </a:r>
            <a:endParaRPr lang="en-US" sz="1200" dirty="0"/>
          </a:p>
        </p:txBody>
      </p:sp>
      <p:sp>
        <p:nvSpPr>
          <p:cNvPr id="11" name="part-2-card"/>
          <p:cNvSpPr/>
          <p:nvPr/>
        </p:nvSpPr>
        <p:spPr>
          <a:xfrm>
            <a:off x="8412480" y="2770632"/>
            <a:ext cx="3200400" cy="1024128"/>
          </a:xfrm>
          <a:prstGeom prst="roundRect">
            <a:avLst>
              <a:gd name="adj" fmla="val 7143"/>
            </a:avLst>
          </a:prstGeom>
          <a:solidFill>
            <a:schemeClr val="bg1"/>
          </a:solidFill>
          <a:ln w="12700">
            <a:solidFill>
              <a:srgbClr val="CBD5E1"/>
            </a:solidFill>
            <a:prstDash val="solid"/>
          </a:ln>
        </p:spPr>
      </p:sp>
      <p:sp>
        <p:nvSpPr>
          <p:cNvPr id="12" name="part-2-name"/>
          <p:cNvSpPr txBox="1"/>
          <p:nvPr/>
        </p:nvSpPr>
        <p:spPr>
          <a:xfrm>
            <a:off x="8577072" y="2862072"/>
            <a:ext cx="2880360" cy="310896"/>
          </a:xfrm>
          <a:prstGeom prst="rect">
            <a:avLst/>
          </a:prstGeom>
          <a:noFill/>
          <a:ln/>
        </p:spPr>
        <p:txBody>
          <a:bodyPr wrap="square" lIns="0" tIns="0" rIns="0" bIns="0" rtlCol="0" anchor="ctr"/>
          <a:lstStyle/>
          <a:p>
            <a:pPr indent="0" marL="0">
              <a:buNone/>
            </a:pPr>
            <a:r>
              <a:rPr lang="en-US" sz="1500" b="1" dirty="0">
                <a:solidFill>
                  <a:schemeClr val="accent2"/>
                </a:solidFill>
                <a:latin typeface="Courier New" pitchFamily="34" charset="0"/>
                <a:ea typeface="Courier New" pitchFamily="34" charset="-122"/>
                <a:cs typeface="Courier New" pitchFamily="34" charset="-120"/>
              </a:rPr>
              <a:t>CloudIndexApp</a:t>
            </a:r>
            <a:endParaRPr lang="en-US" sz="1500" dirty="0"/>
          </a:p>
        </p:txBody>
      </p:sp>
      <p:sp>
        <p:nvSpPr>
          <p:cNvPr id="13" name="part-2-desc"/>
          <p:cNvSpPr txBox="1"/>
          <p:nvPr/>
        </p:nvSpPr>
        <p:spPr>
          <a:xfrm>
            <a:off x="8577072" y="3182112"/>
            <a:ext cx="2880360" cy="566928"/>
          </a:xfrm>
          <a:prstGeom prst="rect">
            <a:avLst/>
          </a:prstGeom>
          <a:noFill/>
          <a:ln/>
        </p:spPr>
        <p:txBody>
          <a:bodyPr wrap="square" lIns="0" tIns="0" rIns="0" bIns="0" rtlCol="0" anchor="t"/>
          <a:lstStyle/>
          <a:p>
            <a:pPr indent="0" marL="0">
              <a:buNone/>
            </a:pPr>
            <a:r>
              <a:rPr lang="en-US" sz="1200" dirty="0">
                <a:solidFill>
                  <a:schemeClr val="tx2"/>
                </a:solidFill>
              </a:rPr>
              <a:t>The menu and scenario; owns the tree through a unique_ptr</a:t>
            </a:r>
            <a:endParaRPr lang="en-US" sz="1200" dirty="0"/>
          </a:p>
        </p:txBody>
      </p:sp>
      <p:sp>
        <p:nvSpPr>
          <p:cNvPr id="14" name="part-3-card"/>
          <p:cNvSpPr/>
          <p:nvPr/>
        </p:nvSpPr>
        <p:spPr>
          <a:xfrm>
            <a:off x="8412480" y="3941064"/>
            <a:ext cx="3200400" cy="1024128"/>
          </a:xfrm>
          <a:prstGeom prst="roundRect">
            <a:avLst>
              <a:gd name="adj" fmla="val 7143"/>
            </a:avLst>
          </a:prstGeom>
          <a:solidFill>
            <a:schemeClr val="bg1"/>
          </a:solidFill>
          <a:ln w="12700">
            <a:solidFill>
              <a:srgbClr val="CBD5E1"/>
            </a:solidFill>
            <a:prstDash val="solid"/>
          </a:ln>
        </p:spPr>
      </p:sp>
      <p:sp>
        <p:nvSpPr>
          <p:cNvPr id="15" name="part-3-name"/>
          <p:cNvSpPr txBox="1"/>
          <p:nvPr/>
        </p:nvSpPr>
        <p:spPr>
          <a:xfrm>
            <a:off x="8577072" y="4032504"/>
            <a:ext cx="2880360" cy="310896"/>
          </a:xfrm>
          <a:prstGeom prst="rect">
            <a:avLst/>
          </a:prstGeom>
          <a:noFill/>
          <a:ln/>
        </p:spPr>
        <p:txBody>
          <a:bodyPr wrap="square" lIns="0" tIns="0" rIns="0" bIns="0" rtlCol="0" anchor="ctr"/>
          <a:lstStyle/>
          <a:p>
            <a:pPr indent="0" marL="0">
              <a:buNone/>
            </a:pPr>
            <a:r>
              <a:rPr lang="en-US" sz="1500" b="1" dirty="0">
                <a:solidFill>
                  <a:schemeClr val="accent2"/>
                </a:solidFill>
                <a:latin typeface="Courier New" pitchFamily="34" charset="0"/>
                <a:ea typeface="Courier New" pitchFamily="34" charset="-122"/>
                <a:cs typeface="Courier New" pitchFamily="34" charset="-120"/>
              </a:rPr>
              <a:t>CloudRecord · SearchStats</a:t>
            </a:r>
            <a:endParaRPr lang="en-US" sz="1500" dirty="0"/>
          </a:p>
        </p:txBody>
      </p:sp>
      <p:sp>
        <p:nvSpPr>
          <p:cNvPr id="16" name="part-3-desc"/>
          <p:cNvSpPr txBox="1"/>
          <p:nvPr/>
        </p:nvSpPr>
        <p:spPr>
          <a:xfrm>
            <a:off x="8577072" y="4352544"/>
            <a:ext cx="2880360" cy="566928"/>
          </a:xfrm>
          <a:prstGeom prst="rect">
            <a:avLst/>
          </a:prstGeom>
          <a:noFill/>
          <a:ln/>
        </p:spPr>
        <p:txBody>
          <a:bodyPr wrap="square" lIns="0" tIns="0" rIns="0" bIns="0" rtlCol="0" anchor="t"/>
          <a:lstStyle/>
          <a:p>
            <a:pPr indent="0" marL="0">
              <a:buNone/>
            </a:pPr>
            <a:r>
              <a:rPr lang="en-US" sz="1200" dirty="0">
                <a:solidFill>
                  <a:schemeClr val="tx2"/>
                </a:solidFill>
              </a:rPr>
              <a:t>What the leaves store, and the cost of each lookup</a:t>
            </a:r>
            <a:endParaRPr lang="en-US" sz="1200" dirty="0"/>
          </a:p>
        </p:txBody>
      </p:sp>
      <p:sp>
        <p:nvSpPr>
          <p:cNvPr id="17" name="part-4-card"/>
          <p:cNvSpPr/>
          <p:nvPr/>
        </p:nvSpPr>
        <p:spPr>
          <a:xfrm>
            <a:off x="8412480" y="5111496"/>
            <a:ext cx="3200400" cy="1024128"/>
          </a:xfrm>
          <a:prstGeom prst="roundRect">
            <a:avLst>
              <a:gd name="adj" fmla="val 7143"/>
            </a:avLst>
          </a:prstGeom>
          <a:solidFill>
            <a:schemeClr val="bg1"/>
          </a:solidFill>
          <a:ln w="12700">
            <a:solidFill>
              <a:srgbClr val="CBD5E1"/>
            </a:solidFill>
            <a:prstDash val="solid"/>
          </a:ln>
        </p:spPr>
      </p:sp>
      <p:sp>
        <p:nvSpPr>
          <p:cNvPr id="18" name="part-4-name"/>
          <p:cNvSpPr txBox="1"/>
          <p:nvPr/>
        </p:nvSpPr>
        <p:spPr>
          <a:xfrm>
            <a:off x="8577072" y="5202936"/>
            <a:ext cx="2880360" cy="310896"/>
          </a:xfrm>
          <a:prstGeom prst="rect">
            <a:avLst/>
          </a:prstGeom>
          <a:noFill/>
          <a:ln/>
        </p:spPr>
        <p:txBody>
          <a:bodyPr wrap="square" lIns="0" tIns="0" rIns="0" bIns="0" rtlCol="0" anchor="ctr"/>
          <a:lstStyle/>
          <a:p>
            <a:pPr indent="0" marL="0">
              <a:buNone/>
            </a:pPr>
            <a:r>
              <a:rPr lang="en-US" sz="1500" b="1" dirty="0">
                <a:solidFill>
                  <a:schemeClr val="accent2"/>
                </a:solidFill>
                <a:latin typeface="Courier New" pitchFamily="34" charset="0"/>
                <a:ea typeface="Courier New" pitchFamily="34" charset="-122"/>
                <a:cs typeface="Courier New" pitchFamily="34" charset="-120"/>
              </a:rPr>
              <a:t>input namespace</a:t>
            </a:r>
            <a:endParaRPr lang="en-US" sz="1500" dirty="0"/>
          </a:p>
        </p:txBody>
      </p:sp>
      <p:sp>
        <p:nvSpPr>
          <p:cNvPr id="19" name="part-4-desc"/>
          <p:cNvSpPr txBox="1"/>
          <p:nvPr/>
        </p:nvSpPr>
        <p:spPr>
          <a:xfrm>
            <a:off x="8577072" y="5522976"/>
            <a:ext cx="2880360" cy="566928"/>
          </a:xfrm>
          <a:prstGeom prst="rect">
            <a:avLst/>
          </a:prstGeom>
          <a:noFill/>
          <a:ln/>
        </p:spPr>
        <p:txBody>
          <a:bodyPr wrap="square" lIns="0" tIns="0" rIns="0" bIns="0" rtlCol="0" anchor="t"/>
          <a:lstStyle/>
          <a:p>
            <a:pPr indent="0" marL="0">
              <a:buNone/>
            </a:pPr>
            <a:r>
              <a:rPr lang="en-US" sz="1200" dirty="0">
                <a:solidFill>
                  <a:schemeClr val="tx2"/>
                </a:solidFill>
              </a:rPr>
              <a:t>All validated console input in one place</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07</a:t>
            </a:r>
            <a:endParaRPr lang="en-US" sz="1100" dirty="0"/>
          </a:p>
        </p:txBody>
      </p:sp>
      <p:sp>
        <p:nvSpPr>
          <p:cNvPr id="4" name="kicker-label-cell"/>
          <p:cNvSpPr/>
          <p:nvPr/>
        </p:nvSpPr>
        <p:spPr>
          <a:xfrm>
            <a:off x="1005840" y="274320"/>
            <a:ext cx="1788566"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788566"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OUTPUT WALKTHROUGH</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Step 1 · Load the data and see the tree</a:t>
            </a:r>
            <a:endParaRPr lang="en-US" sz="3200" dirty="0"/>
          </a:p>
        </p:txBody>
      </p:sp>
      <p:pic>
        <p:nvPicPr>
          <p:cNvPr id="7" name="Program output: loading 24 sample records and displaying the B+ tree" descr="Program output: loading 24 sample records and displaying the B+ tree">    </p:cNvPr>
          <p:cNvPicPr>
            <a:picLocks noChangeAspect="1"/>
          </p:cNvPicPr>
          <p:nvPr/>
        </p:nvPicPr>
        <p:blipFill>
          <a:blip r:embed="rId1"/>
          <a:stretch>
            <a:fillRect/>
          </a:stretch>
        </p:blipFill>
        <p:spPr>
          <a:xfrm>
            <a:off x="548640" y="2065478"/>
            <a:ext cx="7269480" cy="3687164"/>
          </a:xfrm>
          <a:prstGeom prst="rect">
            <a:avLst/>
          </a:prstGeom>
        </p:spPr>
      </p:pic>
      <p:sp>
        <p:nvSpPr>
          <p:cNvPr id="8" name="callout-1-circle"/>
          <p:cNvSpPr/>
          <p:nvPr/>
        </p:nvSpPr>
        <p:spPr>
          <a:xfrm>
            <a:off x="8138160" y="1645920"/>
            <a:ext cx="457200" cy="457200"/>
          </a:xfrm>
          <a:prstGeom prst="ellipse">
            <a:avLst/>
          </a:prstGeom>
          <a:solidFill>
            <a:schemeClr val="accent2"/>
          </a:solidFill>
          <a:ln w="12700">
            <a:solidFill>
              <a:schemeClr val="accent2"/>
            </a:solidFill>
            <a:prstDash val="solid"/>
          </a:ln>
        </p:spPr>
      </p:sp>
      <p:sp>
        <p:nvSpPr>
          <p:cNvPr id="9" name="callout-1-number"/>
          <p:cNvSpPr txBox="1"/>
          <p:nvPr/>
        </p:nvSpPr>
        <p:spPr>
          <a:xfrm>
            <a:off x="8138160" y="1645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callout-1-heading"/>
          <p:cNvSpPr txBox="1"/>
          <p:nvPr/>
        </p:nvSpPr>
        <p:spPr>
          <a:xfrm>
            <a:off x="8732520" y="166420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11 splits while loading</a:t>
            </a:r>
            <a:endParaRPr lang="en-US" sz="1600" dirty="0"/>
          </a:p>
        </p:txBody>
      </p:sp>
      <p:sp>
        <p:nvSpPr>
          <p:cNvPr id="11" name="callout-1-body"/>
          <p:cNvSpPr txBox="1"/>
          <p:nvPr/>
        </p:nvSpPr>
        <p:spPr>
          <a:xfrm>
            <a:off x="8732520" y="2121408"/>
            <a:ext cx="2907792" cy="914400"/>
          </a:xfrm>
          <a:prstGeom prst="rect">
            <a:avLst/>
          </a:prstGeom>
          <a:noFill/>
          <a:ln/>
        </p:spPr>
        <p:txBody>
          <a:bodyPr wrap="square" lIns="0" tIns="0" rIns="0" bIns="0" rtlCol="0" anchor="t"/>
          <a:lstStyle/>
          <a:p>
            <a:pPr indent="0" marL="0">
              <a:buNone/>
            </a:pPr>
            <a:r>
              <a:rPr lang="en-US" sz="1400" dirty="0">
                <a:solidFill>
                  <a:schemeClr val="tx2"/>
                </a:solidFill>
              </a:rPr>
              <a:t>Records arrive out of order, so leaves and internal nodes split as the tree grows.</a:t>
            </a:r>
            <a:endParaRPr lang="en-US" sz="1400" dirty="0"/>
          </a:p>
        </p:txBody>
      </p:sp>
      <p:sp>
        <p:nvSpPr>
          <p:cNvPr id="12" name="callout-2-circle"/>
          <p:cNvSpPr/>
          <p:nvPr/>
        </p:nvSpPr>
        <p:spPr>
          <a:xfrm>
            <a:off x="8138160" y="3200400"/>
            <a:ext cx="457200" cy="457200"/>
          </a:xfrm>
          <a:prstGeom prst="ellipse">
            <a:avLst/>
          </a:prstGeom>
          <a:solidFill>
            <a:schemeClr val="accent2"/>
          </a:solidFill>
          <a:ln w="12700">
            <a:solidFill>
              <a:schemeClr val="accent2"/>
            </a:solidFill>
            <a:prstDash val="solid"/>
          </a:ln>
        </p:spPr>
      </p:sp>
      <p:sp>
        <p:nvSpPr>
          <p:cNvPr id="13" name="callout-2-number"/>
          <p:cNvSpPr txBox="1"/>
          <p:nvPr/>
        </p:nvSpPr>
        <p:spPr>
          <a:xfrm>
            <a:off x="8138160" y="3200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callout-2-heading"/>
          <p:cNvSpPr txBox="1"/>
          <p:nvPr/>
        </p:nvSpPr>
        <p:spPr>
          <a:xfrm>
            <a:off x="8732520" y="321868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Level-by-level view</a:t>
            </a:r>
            <a:endParaRPr lang="en-US" sz="1600" dirty="0"/>
          </a:p>
        </p:txBody>
      </p:sp>
      <p:sp>
        <p:nvSpPr>
          <p:cNvPr id="15" name="callout-2-body"/>
          <p:cNvSpPr txBox="1"/>
          <p:nvPr/>
        </p:nvSpPr>
        <p:spPr>
          <a:xfrm>
            <a:off x="8732520" y="3675888"/>
            <a:ext cx="2907792" cy="914400"/>
          </a:xfrm>
          <a:prstGeom prst="rect">
            <a:avLst/>
          </a:prstGeom>
          <a:noFill/>
          <a:ln/>
        </p:spPr>
        <p:txBody>
          <a:bodyPr wrap="square" lIns="0" tIns="0" rIns="0" bIns="0" rtlCol="0" anchor="t"/>
          <a:lstStyle/>
          <a:p>
            <a:pPr indent="0" marL="0">
              <a:buNone/>
            </a:pPr>
            <a:r>
              <a:rPr lang="en-US" sz="1400" dirty="0">
                <a:solidFill>
                  <a:schemeClr val="tx2"/>
                </a:solidFill>
              </a:rPr>
              <a:t>Root, internal nodes and leaves: the same tree as the diagram.</a:t>
            </a:r>
            <a:endParaRPr lang="en-US" sz="1400" dirty="0"/>
          </a:p>
        </p:txBody>
      </p:sp>
      <p:sp>
        <p:nvSpPr>
          <p:cNvPr id="16" name="callout-3-circle"/>
          <p:cNvSpPr/>
          <p:nvPr/>
        </p:nvSpPr>
        <p:spPr>
          <a:xfrm>
            <a:off x="8138160" y="4754880"/>
            <a:ext cx="457200" cy="457200"/>
          </a:xfrm>
          <a:prstGeom prst="ellipse">
            <a:avLst/>
          </a:prstGeom>
          <a:solidFill>
            <a:schemeClr val="accent2"/>
          </a:solidFill>
          <a:ln w="12700">
            <a:solidFill>
              <a:schemeClr val="accent2"/>
            </a:solidFill>
            <a:prstDash val="solid"/>
          </a:ln>
        </p:spPr>
      </p:sp>
      <p:sp>
        <p:nvSpPr>
          <p:cNvPr id="17" name="callout-3-number"/>
          <p:cNvSpPr txBox="1"/>
          <p:nvPr/>
        </p:nvSpPr>
        <p:spPr>
          <a:xfrm>
            <a:off x="8138160" y="4754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callout-3-heading"/>
          <p:cNvSpPr txBox="1"/>
          <p:nvPr/>
        </p:nvSpPr>
        <p:spPr>
          <a:xfrm>
            <a:off x="8732520" y="477316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The leaf chain</a:t>
            </a:r>
            <a:endParaRPr lang="en-US" sz="1600" dirty="0"/>
          </a:p>
        </p:txBody>
      </p:sp>
      <p:sp>
        <p:nvSpPr>
          <p:cNvPr id="19" name="callout-3-body"/>
          <p:cNvSpPr txBox="1"/>
          <p:nvPr/>
        </p:nvSpPr>
        <p:spPr>
          <a:xfrm>
            <a:off x="8732520" y="5230368"/>
            <a:ext cx="2907792" cy="914400"/>
          </a:xfrm>
          <a:prstGeom prst="rect">
            <a:avLst/>
          </a:prstGeom>
          <a:noFill/>
          <a:ln/>
        </p:spPr>
        <p:txBody>
          <a:bodyPr wrap="square" lIns="0" tIns="0" rIns="0" bIns="0" rtlCol="0" anchor="t"/>
          <a:lstStyle/>
          <a:p>
            <a:pPr indent="0" marL="0">
              <a:buNone/>
            </a:pPr>
            <a:r>
              <a:rPr lang="en-US" sz="1400" dirty="0">
                <a:solidFill>
                  <a:schemeClr val="tx2"/>
                </a:solidFill>
              </a:rPr>
              <a:t>Every leaf points to the next one. Range searches follow this path.</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07</a:t>
            </a:r>
            <a:endParaRPr lang="en-US" sz="1100" dirty="0"/>
          </a:p>
        </p:txBody>
      </p:sp>
      <p:sp>
        <p:nvSpPr>
          <p:cNvPr id="4" name="kicker-label-cell"/>
          <p:cNvSpPr/>
          <p:nvPr/>
        </p:nvSpPr>
        <p:spPr>
          <a:xfrm>
            <a:off x="1005840" y="274320"/>
            <a:ext cx="1788566"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788566"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OUTPUT WALKTHROUGH</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Step 2 · Search and range search</a:t>
            </a:r>
            <a:endParaRPr lang="en-US" sz="3200" dirty="0"/>
          </a:p>
        </p:txBody>
      </p:sp>
      <p:pic>
        <p:nvPicPr>
          <p:cNvPr id="7" name="Program output: searching for 1052 and a range search from 1020 to 1050" descr="Program output: searching for 1052 and a range search from 1020 to 1050">    </p:cNvPr>
          <p:cNvPicPr>
            <a:picLocks noChangeAspect="1"/>
          </p:cNvPicPr>
          <p:nvPr/>
        </p:nvPicPr>
        <p:blipFill>
          <a:blip r:embed="rId1"/>
          <a:stretch>
            <a:fillRect/>
          </a:stretch>
        </p:blipFill>
        <p:spPr>
          <a:xfrm>
            <a:off x="945832" y="1554480"/>
            <a:ext cx="6475095" cy="4709160"/>
          </a:xfrm>
          <a:prstGeom prst="rect">
            <a:avLst/>
          </a:prstGeom>
        </p:spPr>
      </p:pic>
      <p:sp>
        <p:nvSpPr>
          <p:cNvPr id="8" name="callout-1-circle"/>
          <p:cNvSpPr/>
          <p:nvPr/>
        </p:nvSpPr>
        <p:spPr>
          <a:xfrm>
            <a:off x="8138160" y="1645920"/>
            <a:ext cx="457200" cy="457200"/>
          </a:xfrm>
          <a:prstGeom prst="ellipse">
            <a:avLst/>
          </a:prstGeom>
          <a:solidFill>
            <a:schemeClr val="accent2"/>
          </a:solidFill>
          <a:ln w="12700">
            <a:solidFill>
              <a:schemeClr val="accent2"/>
            </a:solidFill>
            <a:prstDash val="solid"/>
          </a:ln>
        </p:spPr>
      </p:sp>
      <p:sp>
        <p:nvSpPr>
          <p:cNvPr id="9" name="callout-1-number"/>
          <p:cNvSpPr txBox="1"/>
          <p:nvPr/>
        </p:nvSpPr>
        <p:spPr>
          <a:xfrm>
            <a:off x="8138160" y="1645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callout-1-heading"/>
          <p:cNvSpPr txBox="1"/>
          <p:nvPr/>
        </p:nvSpPr>
        <p:spPr>
          <a:xfrm>
            <a:off x="8732520" y="166420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The search path</a:t>
            </a:r>
            <a:endParaRPr lang="en-US" sz="1600" dirty="0"/>
          </a:p>
        </p:txBody>
      </p:sp>
      <p:sp>
        <p:nvSpPr>
          <p:cNvPr id="11" name="callout-1-body"/>
          <p:cNvSpPr txBox="1"/>
          <p:nvPr/>
        </p:nvSpPr>
        <p:spPr>
          <a:xfrm>
            <a:off x="8732520" y="2121408"/>
            <a:ext cx="2907792" cy="914400"/>
          </a:xfrm>
          <a:prstGeom prst="rect">
            <a:avLst/>
          </a:prstGeom>
          <a:noFill/>
          <a:ln/>
        </p:spPr>
        <p:txBody>
          <a:bodyPr wrap="square" lIns="0" tIns="0" rIns="0" bIns="0" rtlCol="0" anchor="t"/>
          <a:lstStyle/>
          <a:p>
            <a:pPr indent="0" marL="0">
              <a:buNone/>
            </a:pPr>
            <a:r>
              <a:rPr lang="en-US" sz="1400" dirty="0">
                <a:solidFill>
                  <a:schemeClr val="tx2"/>
                </a:solidFill>
              </a:rPr>
              <a:t>Root → internal node → leaf, printed for every lookup.</a:t>
            </a:r>
            <a:endParaRPr lang="en-US" sz="1400" dirty="0"/>
          </a:p>
        </p:txBody>
      </p:sp>
      <p:sp>
        <p:nvSpPr>
          <p:cNvPr id="12" name="callout-2-circle"/>
          <p:cNvSpPr/>
          <p:nvPr/>
        </p:nvSpPr>
        <p:spPr>
          <a:xfrm>
            <a:off x="8138160" y="3200400"/>
            <a:ext cx="457200" cy="457200"/>
          </a:xfrm>
          <a:prstGeom prst="ellipse">
            <a:avLst/>
          </a:prstGeom>
          <a:solidFill>
            <a:schemeClr val="accent2"/>
          </a:solidFill>
          <a:ln w="12700">
            <a:solidFill>
              <a:schemeClr val="accent2"/>
            </a:solidFill>
            <a:prstDash val="solid"/>
          </a:ln>
        </p:spPr>
      </p:sp>
      <p:sp>
        <p:nvSpPr>
          <p:cNvPr id="13" name="callout-2-number"/>
          <p:cNvSpPr txBox="1"/>
          <p:nvPr/>
        </p:nvSpPr>
        <p:spPr>
          <a:xfrm>
            <a:off x="8138160" y="3200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callout-2-heading"/>
          <p:cNvSpPr txBox="1"/>
          <p:nvPr/>
        </p:nvSpPr>
        <p:spPr>
          <a:xfrm>
            <a:off x="8732520" y="321868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The cost</a:t>
            </a:r>
            <a:endParaRPr lang="en-US" sz="1600" dirty="0"/>
          </a:p>
        </p:txBody>
      </p:sp>
      <p:sp>
        <p:nvSpPr>
          <p:cNvPr id="15" name="callout-2-body"/>
          <p:cNvSpPr txBox="1"/>
          <p:nvPr/>
        </p:nvSpPr>
        <p:spPr>
          <a:xfrm>
            <a:off x="8732520" y="3675888"/>
            <a:ext cx="2907792" cy="914400"/>
          </a:xfrm>
          <a:prstGeom prst="rect">
            <a:avLst/>
          </a:prstGeom>
          <a:noFill/>
          <a:ln/>
        </p:spPr>
        <p:txBody>
          <a:bodyPr wrap="square" lIns="0" tIns="0" rIns="0" bIns="0" rtlCol="0" anchor="t"/>
          <a:lstStyle/>
          <a:p>
            <a:pPr indent="0" marL="0">
              <a:buNone/>
            </a:pPr>
            <a:r>
              <a:rPr lang="en-US" sz="1400" dirty="0">
                <a:solidFill>
                  <a:schemeClr val="tx2"/>
                </a:solidFill>
              </a:rPr>
              <a:t>Record 1052 found in 3 node reads and 6 key comparisons.</a:t>
            </a:r>
            <a:endParaRPr lang="en-US" sz="1400" dirty="0"/>
          </a:p>
        </p:txBody>
      </p:sp>
      <p:sp>
        <p:nvSpPr>
          <p:cNvPr id="16" name="callout-3-circle"/>
          <p:cNvSpPr/>
          <p:nvPr/>
        </p:nvSpPr>
        <p:spPr>
          <a:xfrm>
            <a:off x="8138160" y="4754880"/>
            <a:ext cx="457200" cy="457200"/>
          </a:xfrm>
          <a:prstGeom prst="ellipse">
            <a:avLst/>
          </a:prstGeom>
          <a:solidFill>
            <a:schemeClr val="accent2"/>
          </a:solidFill>
          <a:ln w="12700">
            <a:solidFill>
              <a:schemeClr val="accent2"/>
            </a:solidFill>
            <a:prstDash val="solid"/>
          </a:ln>
        </p:spPr>
      </p:sp>
      <p:sp>
        <p:nvSpPr>
          <p:cNvPr id="17" name="callout-3-number"/>
          <p:cNvSpPr txBox="1"/>
          <p:nvPr/>
        </p:nvSpPr>
        <p:spPr>
          <a:xfrm>
            <a:off x="8138160" y="4754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callout-3-heading"/>
          <p:cNvSpPr txBox="1"/>
          <p:nvPr/>
        </p:nvSpPr>
        <p:spPr>
          <a:xfrm>
            <a:off x="8732520" y="477316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Range 1020 – 1050</a:t>
            </a:r>
            <a:endParaRPr lang="en-US" sz="1600" dirty="0"/>
          </a:p>
        </p:txBody>
      </p:sp>
      <p:sp>
        <p:nvSpPr>
          <p:cNvPr id="19" name="callout-3-body"/>
          <p:cNvSpPr txBox="1"/>
          <p:nvPr/>
        </p:nvSpPr>
        <p:spPr>
          <a:xfrm>
            <a:off x="8732520" y="5230368"/>
            <a:ext cx="2907792" cy="914400"/>
          </a:xfrm>
          <a:prstGeom prst="rect">
            <a:avLst/>
          </a:prstGeom>
          <a:noFill/>
          <a:ln/>
        </p:spPr>
        <p:txBody>
          <a:bodyPr wrap="square" lIns="0" tIns="0" rIns="0" bIns="0" rtlCol="0" anchor="t"/>
          <a:lstStyle/>
          <a:p>
            <a:pPr indent="0" marL="0">
              <a:buNone/>
            </a:pPr>
            <a:r>
              <a:rPr lang="en-US" sz="1400" dirty="0">
                <a:solidFill>
                  <a:schemeClr val="tx2"/>
                </a:solidFill>
              </a:rPr>
              <a:t>8 records in order: one descent, then 5 leaves along the next pointers.</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07</a:t>
            </a:r>
            <a:endParaRPr lang="en-US" sz="1100" dirty="0"/>
          </a:p>
        </p:txBody>
      </p:sp>
      <p:sp>
        <p:nvSpPr>
          <p:cNvPr id="4" name="kicker-label-cell"/>
          <p:cNvSpPr/>
          <p:nvPr/>
        </p:nvSpPr>
        <p:spPr>
          <a:xfrm>
            <a:off x="1005840" y="274320"/>
            <a:ext cx="1788566"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788566"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OUTPUT WALKTHROUGH</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Step 3 · Insert: validation, then splits</a:t>
            </a:r>
            <a:endParaRPr lang="en-US" sz="3200" dirty="0"/>
          </a:p>
        </p:txBody>
      </p:sp>
      <p:pic>
        <p:nvPicPr>
          <p:cNvPr id="7" name="Program output: adding record 1078 with input validation, a leaf split and an internal split" descr="Program output: adding record 1078 with input validation, a leaf split and an internal split">    </p:cNvPr>
          <p:cNvPicPr>
            <a:picLocks noChangeAspect="1"/>
          </p:cNvPicPr>
          <p:nvPr/>
        </p:nvPicPr>
        <p:blipFill>
          <a:blip r:embed="rId1"/>
          <a:stretch>
            <a:fillRect/>
          </a:stretch>
        </p:blipFill>
        <p:spPr>
          <a:xfrm>
            <a:off x="1213699" y="1554480"/>
            <a:ext cx="5939362" cy="4709160"/>
          </a:xfrm>
          <a:prstGeom prst="rect">
            <a:avLst/>
          </a:prstGeom>
        </p:spPr>
      </p:pic>
      <p:sp>
        <p:nvSpPr>
          <p:cNvPr id="8" name="callout-1-circle"/>
          <p:cNvSpPr/>
          <p:nvPr/>
        </p:nvSpPr>
        <p:spPr>
          <a:xfrm>
            <a:off x="8138160" y="1645920"/>
            <a:ext cx="457200" cy="457200"/>
          </a:xfrm>
          <a:prstGeom prst="ellipse">
            <a:avLst/>
          </a:prstGeom>
          <a:solidFill>
            <a:schemeClr val="accent2"/>
          </a:solidFill>
          <a:ln w="12700">
            <a:solidFill>
              <a:schemeClr val="accent2"/>
            </a:solidFill>
            <a:prstDash val="solid"/>
          </a:ln>
        </p:spPr>
      </p:sp>
      <p:sp>
        <p:nvSpPr>
          <p:cNvPr id="9" name="callout-1-number"/>
          <p:cNvSpPr txBox="1"/>
          <p:nvPr/>
        </p:nvSpPr>
        <p:spPr>
          <a:xfrm>
            <a:off x="8138160" y="1645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callout-1-heading"/>
          <p:cNvSpPr txBox="1"/>
          <p:nvPr/>
        </p:nvSpPr>
        <p:spPr>
          <a:xfrm>
            <a:off x="8732520" y="166420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Validation (red)</a:t>
            </a:r>
            <a:endParaRPr lang="en-US" sz="1600" dirty="0"/>
          </a:p>
        </p:txBody>
      </p:sp>
      <p:sp>
        <p:nvSpPr>
          <p:cNvPr id="11" name="callout-1-body"/>
          <p:cNvSpPr txBox="1"/>
          <p:nvPr/>
        </p:nvSpPr>
        <p:spPr>
          <a:xfrm>
            <a:off x="8732520" y="2121408"/>
            <a:ext cx="2907792" cy="914400"/>
          </a:xfrm>
          <a:prstGeom prst="rect">
            <a:avLst/>
          </a:prstGeom>
          <a:noFill/>
          <a:ln/>
        </p:spPr>
        <p:txBody>
          <a:bodyPr wrap="square" lIns="0" tIns="0" rIns="0" bIns="0" rtlCol="0" anchor="t"/>
          <a:lstStyle/>
          <a:p>
            <a:pPr indent="0" marL="0">
              <a:buNone/>
            </a:pPr>
            <a:r>
              <a:rPr lang="en-US" sz="1400" dirty="0">
                <a:solidFill>
                  <a:schemeClr val="tx2"/>
                </a:solidFill>
              </a:rPr>
              <a:t>A name with a space, a size that isn't a number and Feb 30 are all rejected and asked again.</a:t>
            </a:r>
            <a:endParaRPr lang="en-US" sz="1400" dirty="0"/>
          </a:p>
        </p:txBody>
      </p:sp>
      <p:sp>
        <p:nvSpPr>
          <p:cNvPr id="12" name="callout-2-circle"/>
          <p:cNvSpPr/>
          <p:nvPr/>
        </p:nvSpPr>
        <p:spPr>
          <a:xfrm>
            <a:off x="8138160" y="3200400"/>
            <a:ext cx="457200" cy="457200"/>
          </a:xfrm>
          <a:prstGeom prst="ellipse">
            <a:avLst/>
          </a:prstGeom>
          <a:solidFill>
            <a:schemeClr val="accent2"/>
          </a:solidFill>
          <a:ln w="12700">
            <a:solidFill>
              <a:schemeClr val="accent2"/>
            </a:solidFill>
            <a:prstDash val="solid"/>
          </a:ln>
        </p:spPr>
      </p:sp>
      <p:sp>
        <p:nvSpPr>
          <p:cNvPr id="13" name="callout-2-number"/>
          <p:cNvSpPr txBox="1"/>
          <p:nvPr/>
        </p:nvSpPr>
        <p:spPr>
          <a:xfrm>
            <a:off x="8138160" y="3200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callout-2-heading"/>
          <p:cNvSpPr txBox="1"/>
          <p:nvPr/>
        </p:nvSpPr>
        <p:spPr>
          <a:xfrm>
            <a:off x="8732520" y="321868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Leaf split (yellow)</a:t>
            </a:r>
            <a:endParaRPr lang="en-US" sz="1600" dirty="0"/>
          </a:p>
        </p:txBody>
      </p:sp>
      <p:sp>
        <p:nvSpPr>
          <p:cNvPr id="15" name="callout-2-body"/>
          <p:cNvSpPr txBox="1"/>
          <p:nvPr/>
        </p:nvSpPr>
        <p:spPr>
          <a:xfrm>
            <a:off x="8732520" y="3675888"/>
            <a:ext cx="2907792" cy="914400"/>
          </a:xfrm>
          <a:prstGeom prst="rect">
            <a:avLst/>
          </a:prstGeom>
          <a:noFill/>
          <a:ln/>
        </p:spPr>
        <p:txBody>
          <a:bodyPr wrap="square" lIns="0" tIns="0" rIns="0" bIns="0" rtlCol="0" anchor="t"/>
          <a:lstStyle/>
          <a:p>
            <a:pPr indent="0" marL="0">
              <a:buNone/>
            </a:pPr>
            <a:r>
              <a:rPr lang="en-US" sz="1400" dirty="0">
                <a:solidFill>
                  <a:schemeClr val="tx2"/>
                </a:solidFill>
              </a:rPr>
              <a:t>The full leaf splits and 1081 is copied up: the leaf keeps the data.</a:t>
            </a:r>
            <a:endParaRPr lang="en-US" sz="1400" dirty="0"/>
          </a:p>
        </p:txBody>
      </p:sp>
      <p:sp>
        <p:nvSpPr>
          <p:cNvPr id="16" name="callout-3-circle"/>
          <p:cNvSpPr/>
          <p:nvPr/>
        </p:nvSpPr>
        <p:spPr>
          <a:xfrm>
            <a:off x="8138160" y="4754880"/>
            <a:ext cx="457200" cy="457200"/>
          </a:xfrm>
          <a:prstGeom prst="ellipse">
            <a:avLst/>
          </a:prstGeom>
          <a:solidFill>
            <a:schemeClr val="accent2"/>
          </a:solidFill>
          <a:ln w="12700">
            <a:solidFill>
              <a:schemeClr val="accent2"/>
            </a:solidFill>
            <a:prstDash val="solid"/>
          </a:ln>
        </p:spPr>
      </p:sp>
      <p:sp>
        <p:nvSpPr>
          <p:cNvPr id="17" name="callout-3-number"/>
          <p:cNvSpPr txBox="1"/>
          <p:nvPr/>
        </p:nvSpPr>
        <p:spPr>
          <a:xfrm>
            <a:off x="8138160" y="4754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callout-3-heading"/>
          <p:cNvSpPr txBox="1"/>
          <p:nvPr/>
        </p:nvSpPr>
        <p:spPr>
          <a:xfrm>
            <a:off x="8732520" y="477316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Internal split</a:t>
            </a:r>
            <a:endParaRPr lang="en-US" sz="1600" dirty="0"/>
          </a:p>
        </p:txBody>
      </p:sp>
      <p:sp>
        <p:nvSpPr>
          <p:cNvPr id="19" name="callout-3-body"/>
          <p:cNvSpPr txBox="1"/>
          <p:nvPr/>
        </p:nvSpPr>
        <p:spPr>
          <a:xfrm>
            <a:off x="8732520" y="5230368"/>
            <a:ext cx="2907792" cy="914400"/>
          </a:xfrm>
          <a:prstGeom prst="rect">
            <a:avLst/>
          </a:prstGeom>
          <a:noFill/>
          <a:ln/>
        </p:spPr>
        <p:txBody>
          <a:bodyPr wrap="square" lIns="0" tIns="0" rIns="0" bIns="0" rtlCol="0" anchor="t"/>
          <a:lstStyle/>
          <a:p>
            <a:pPr indent="0" marL="0">
              <a:buNone/>
            </a:pPr>
            <a:r>
              <a:rPr lang="en-US" sz="1400" dirty="0">
                <a:solidFill>
                  <a:schemeClr val="tx2"/>
                </a:solidFill>
              </a:rPr>
              <a:t>The parent splits and 1081 moves up into the root. Height stays 3.</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07</a:t>
            </a:r>
            <a:endParaRPr lang="en-US" sz="1100" dirty="0"/>
          </a:p>
        </p:txBody>
      </p:sp>
      <p:sp>
        <p:nvSpPr>
          <p:cNvPr id="4" name="kicker-label-cell"/>
          <p:cNvSpPr/>
          <p:nvPr/>
        </p:nvSpPr>
        <p:spPr>
          <a:xfrm>
            <a:off x="1005840" y="274320"/>
            <a:ext cx="1788566"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788566"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OUTPUT WALKTHROUGH</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Step 4 · Delete: merges and a borrow</a:t>
            </a:r>
            <a:endParaRPr lang="en-US" sz="3200" dirty="0"/>
          </a:p>
        </p:txBody>
      </p:sp>
      <p:pic>
        <p:nvPicPr>
          <p:cNvPr id="7" name="Program output: deleting 1044, 1038 and 1052, then displaying the tree" descr="Program output: deleting 1044, 1038 and 1052, then displaying the tree">    </p:cNvPr>
          <p:cNvPicPr>
            <a:picLocks noChangeAspect="1"/>
          </p:cNvPicPr>
          <p:nvPr/>
        </p:nvPicPr>
        <p:blipFill>
          <a:blip r:embed="rId1"/>
          <a:stretch>
            <a:fillRect/>
          </a:stretch>
        </p:blipFill>
        <p:spPr>
          <a:xfrm>
            <a:off x="1243558" y="1554480"/>
            <a:ext cx="5879645" cy="4709160"/>
          </a:xfrm>
          <a:prstGeom prst="rect">
            <a:avLst/>
          </a:prstGeom>
        </p:spPr>
      </p:pic>
      <p:sp>
        <p:nvSpPr>
          <p:cNvPr id="8" name="callout-1-circle"/>
          <p:cNvSpPr/>
          <p:nvPr/>
        </p:nvSpPr>
        <p:spPr>
          <a:xfrm>
            <a:off x="8138160" y="1645920"/>
            <a:ext cx="457200" cy="457200"/>
          </a:xfrm>
          <a:prstGeom prst="ellipse">
            <a:avLst/>
          </a:prstGeom>
          <a:solidFill>
            <a:schemeClr val="accent2"/>
          </a:solidFill>
          <a:ln w="12700">
            <a:solidFill>
              <a:schemeClr val="accent2"/>
            </a:solidFill>
            <a:prstDash val="solid"/>
          </a:ln>
        </p:spPr>
      </p:sp>
      <p:sp>
        <p:nvSpPr>
          <p:cNvPr id="9" name="callout-1-number"/>
          <p:cNvSpPr txBox="1"/>
          <p:nvPr/>
        </p:nvSpPr>
        <p:spPr>
          <a:xfrm>
            <a:off x="8138160" y="1645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callout-1-heading"/>
          <p:cNvSpPr txBox="1"/>
          <p:nvPr/>
        </p:nvSpPr>
        <p:spPr>
          <a:xfrm>
            <a:off x="8732520" y="166420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Delete 1044 → merge</a:t>
            </a:r>
            <a:endParaRPr lang="en-US" sz="1600" dirty="0"/>
          </a:p>
        </p:txBody>
      </p:sp>
      <p:sp>
        <p:nvSpPr>
          <p:cNvPr id="11" name="callout-1-body"/>
          <p:cNvSpPr txBox="1"/>
          <p:nvPr/>
        </p:nvSpPr>
        <p:spPr>
          <a:xfrm>
            <a:off x="8732520" y="2121408"/>
            <a:ext cx="2907792" cy="914400"/>
          </a:xfrm>
          <a:prstGeom prst="rect">
            <a:avLst/>
          </a:prstGeom>
          <a:noFill/>
          <a:ln/>
        </p:spPr>
        <p:txBody>
          <a:bodyPr wrap="square" lIns="0" tIns="0" rIns="0" bIns="0" rtlCol="0" anchor="t"/>
          <a:lstStyle/>
          <a:p>
            <a:pPr indent="0" marL="0">
              <a:buNone/>
            </a:pPr>
            <a:r>
              <a:rPr lang="en-US" sz="1400" dirty="0">
                <a:solidFill>
                  <a:schemeClr val="tx2"/>
                </a:solidFill>
              </a:rPr>
              <a:t>The leaf drops below 2 keys and neither sibling can lend, so two leaves merge.</a:t>
            </a:r>
            <a:endParaRPr lang="en-US" sz="1400" dirty="0"/>
          </a:p>
        </p:txBody>
      </p:sp>
      <p:sp>
        <p:nvSpPr>
          <p:cNvPr id="12" name="callout-2-circle"/>
          <p:cNvSpPr/>
          <p:nvPr/>
        </p:nvSpPr>
        <p:spPr>
          <a:xfrm>
            <a:off x="8138160" y="3200400"/>
            <a:ext cx="457200" cy="457200"/>
          </a:xfrm>
          <a:prstGeom prst="ellipse">
            <a:avLst/>
          </a:prstGeom>
          <a:solidFill>
            <a:schemeClr val="accent2"/>
          </a:solidFill>
          <a:ln w="12700">
            <a:solidFill>
              <a:schemeClr val="accent2"/>
            </a:solidFill>
            <a:prstDash val="solid"/>
          </a:ln>
        </p:spPr>
      </p:sp>
      <p:sp>
        <p:nvSpPr>
          <p:cNvPr id="13" name="callout-2-number"/>
          <p:cNvSpPr txBox="1"/>
          <p:nvPr/>
        </p:nvSpPr>
        <p:spPr>
          <a:xfrm>
            <a:off x="8138160" y="3200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callout-2-heading"/>
          <p:cNvSpPr txBox="1"/>
          <p:nvPr/>
        </p:nvSpPr>
        <p:spPr>
          <a:xfrm>
            <a:off x="8732520" y="321868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Delete 1052 → merge + borrow</a:t>
            </a:r>
            <a:endParaRPr lang="en-US" sz="1600" dirty="0"/>
          </a:p>
        </p:txBody>
      </p:sp>
      <p:sp>
        <p:nvSpPr>
          <p:cNvPr id="15" name="callout-2-body"/>
          <p:cNvSpPr txBox="1"/>
          <p:nvPr/>
        </p:nvSpPr>
        <p:spPr>
          <a:xfrm>
            <a:off x="8732520" y="3675888"/>
            <a:ext cx="2907792" cy="914400"/>
          </a:xfrm>
          <a:prstGeom prst="rect">
            <a:avLst/>
          </a:prstGeom>
          <a:noFill/>
          <a:ln/>
        </p:spPr>
        <p:txBody>
          <a:bodyPr wrap="square" lIns="0" tIns="0" rIns="0" bIns="0" rtlCol="0" anchor="t"/>
          <a:lstStyle/>
          <a:p>
            <a:pPr indent="0" marL="0">
              <a:buNone/>
            </a:pPr>
            <a:r>
              <a:rPr lang="en-US" sz="1400" dirty="0">
                <a:solidFill>
                  <a:schemeClr val="tx2"/>
                </a:solidFill>
              </a:rPr>
              <a:t>The emptied internal node borrows a key through its parent.</a:t>
            </a:r>
            <a:endParaRPr lang="en-US" sz="1400" dirty="0"/>
          </a:p>
        </p:txBody>
      </p:sp>
      <p:sp>
        <p:nvSpPr>
          <p:cNvPr id="16" name="callout-3-circle"/>
          <p:cNvSpPr/>
          <p:nvPr/>
        </p:nvSpPr>
        <p:spPr>
          <a:xfrm>
            <a:off x="8138160" y="4754880"/>
            <a:ext cx="457200" cy="457200"/>
          </a:xfrm>
          <a:prstGeom prst="ellipse">
            <a:avLst/>
          </a:prstGeom>
          <a:solidFill>
            <a:schemeClr val="accent2"/>
          </a:solidFill>
          <a:ln w="12700">
            <a:solidFill>
              <a:schemeClr val="accent2"/>
            </a:solidFill>
            <a:prstDash val="solid"/>
          </a:ln>
        </p:spPr>
      </p:sp>
      <p:sp>
        <p:nvSpPr>
          <p:cNvPr id="17" name="callout-3-number"/>
          <p:cNvSpPr txBox="1"/>
          <p:nvPr/>
        </p:nvSpPr>
        <p:spPr>
          <a:xfrm>
            <a:off x="8138160" y="4754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callout-3-heading"/>
          <p:cNvSpPr txBox="1"/>
          <p:nvPr/>
        </p:nvSpPr>
        <p:spPr>
          <a:xfrm>
            <a:off x="8732520" y="477316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Still balanced</a:t>
            </a:r>
            <a:endParaRPr lang="en-US" sz="1600" dirty="0"/>
          </a:p>
        </p:txBody>
      </p:sp>
      <p:sp>
        <p:nvSpPr>
          <p:cNvPr id="19" name="callout-3-body"/>
          <p:cNvSpPr txBox="1"/>
          <p:nvPr/>
        </p:nvSpPr>
        <p:spPr>
          <a:xfrm>
            <a:off x="8732520" y="5230368"/>
            <a:ext cx="2907792" cy="914400"/>
          </a:xfrm>
          <a:prstGeom prst="rect">
            <a:avLst/>
          </a:prstGeom>
          <a:noFill/>
          <a:ln/>
        </p:spPr>
        <p:txBody>
          <a:bodyPr wrap="square" lIns="0" tIns="0" rIns="0" bIns="0" rtlCol="0" anchor="t"/>
          <a:lstStyle/>
          <a:p>
            <a:pPr indent="0" marL="0">
              <a:buNone/>
            </a:pPr>
            <a:r>
              <a:rPr lang="en-US" sz="1400" dirty="0">
                <a:solidFill>
                  <a:schemeClr val="tx2"/>
                </a:solidFill>
              </a:rPr>
              <a:t>Option 7 shows the repaired tree: one sorted leaf chain, height 3.</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07</a:t>
            </a:r>
            <a:endParaRPr lang="en-US" sz="1100" dirty="0"/>
          </a:p>
        </p:txBody>
      </p:sp>
      <p:sp>
        <p:nvSpPr>
          <p:cNvPr id="4" name="kicker-label-cell"/>
          <p:cNvSpPr/>
          <p:nvPr/>
        </p:nvSpPr>
        <p:spPr>
          <a:xfrm>
            <a:off x="1005840" y="274320"/>
            <a:ext cx="1788566"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1788566"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OUTPUT WALKTHROUGH</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Step 5 · Edge cases and the self-check</a:t>
            </a:r>
            <a:endParaRPr lang="en-US" sz="3200" dirty="0"/>
          </a:p>
        </p:txBody>
      </p:sp>
      <p:pic>
        <p:nvPicPr>
          <p:cNvPr id="7" name="Program output: empty index, invalid input, duplicate and missing IDs, index vs full scan, self-check" descr="Program output: empty index, invalid input, duplicate and missing IDs, index vs full scan, self-check">    </p:cNvPr>
          <p:cNvPicPr>
            <a:picLocks noChangeAspect="1"/>
          </p:cNvPicPr>
          <p:nvPr/>
        </p:nvPicPr>
        <p:blipFill>
          <a:blip r:embed="rId1"/>
          <a:stretch>
            <a:fillRect/>
          </a:stretch>
        </p:blipFill>
        <p:spPr>
          <a:xfrm>
            <a:off x="1699502" y="1554480"/>
            <a:ext cx="4967755" cy="4709160"/>
          </a:xfrm>
          <a:prstGeom prst="rect">
            <a:avLst/>
          </a:prstGeom>
        </p:spPr>
      </p:pic>
      <p:sp>
        <p:nvSpPr>
          <p:cNvPr id="8" name="callout-1-circle"/>
          <p:cNvSpPr/>
          <p:nvPr/>
        </p:nvSpPr>
        <p:spPr>
          <a:xfrm>
            <a:off x="8138160" y="1645920"/>
            <a:ext cx="457200" cy="457200"/>
          </a:xfrm>
          <a:prstGeom prst="ellipse">
            <a:avLst/>
          </a:prstGeom>
          <a:solidFill>
            <a:schemeClr val="accent2"/>
          </a:solidFill>
          <a:ln w="12700">
            <a:solidFill>
              <a:schemeClr val="accent2"/>
            </a:solidFill>
            <a:prstDash val="solid"/>
          </a:ln>
        </p:spPr>
      </p:sp>
      <p:sp>
        <p:nvSpPr>
          <p:cNvPr id="9" name="callout-1-number"/>
          <p:cNvSpPr txBox="1"/>
          <p:nvPr/>
        </p:nvSpPr>
        <p:spPr>
          <a:xfrm>
            <a:off x="8138160" y="1645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callout-1-heading"/>
          <p:cNvSpPr txBox="1"/>
          <p:nvPr/>
        </p:nvSpPr>
        <p:spPr>
          <a:xfrm>
            <a:off x="8732520" y="166420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Never crashes</a:t>
            </a:r>
            <a:endParaRPr lang="en-US" sz="1600" dirty="0"/>
          </a:p>
        </p:txBody>
      </p:sp>
      <p:sp>
        <p:nvSpPr>
          <p:cNvPr id="11" name="callout-1-body"/>
          <p:cNvSpPr txBox="1"/>
          <p:nvPr/>
        </p:nvSpPr>
        <p:spPr>
          <a:xfrm>
            <a:off x="8732520" y="2121408"/>
            <a:ext cx="2907792" cy="914400"/>
          </a:xfrm>
          <a:prstGeom prst="rect">
            <a:avLst/>
          </a:prstGeom>
          <a:noFill/>
          <a:ln/>
        </p:spPr>
        <p:txBody>
          <a:bodyPr wrap="square" lIns="0" tIns="0" rIns="0" bIns="0" rtlCol="0" anchor="t"/>
          <a:lstStyle/>
          <a:p>
            <a:pPr indent="0" marL="0">
              <a:buNone/>
            </a:pPr>
            <a:r>
              <a:rPr lang="en-US" sz="1400" dirty="0">
                <a:solidFill>
                  <a:schemeClr val="tx2"/>
                </a:solidFill>
              </a:rPr>
              <a:t>Empty index, "abc", duplicate IDs and missing IDs all get clear messages.</a:t>
            </a:r>
            <a:endParaRPr lang="en-US" sz="1400" dirty="0"/>
          </a:p>
        </p:txBody>
      </p:sp>
      <p:sp>
        <p:nvSpPr>
          <p:cNvPr id="12" name="callout-2-circle"/>
          <p:cNvSpPr/>
          <p:nvPr/>
        </p:nvSpPr>
        <p:spPr>
          <a:xfrm>
            <a:off x="8138160" y="3200400"/>
            <a:ext cx="457200" cy="457200"/>
          </a:xfrm>
          <a:prstGeom prst="ellipse">
            <a:avLst/>
          </a:prstGeom>
          <a:solidFill>
            <a:schemeClr val="accent2"/>
          </a:solidFill>
          <a:ln w="12700">
            <a:solidFill>
              <a:schemeClr val="accent2"/>
            </a:solidFill>
            <a:prstDash val="solid"/>
          </a:ln>
        </p:spPr>
      </p:sp>
      <p:sp>
        <p:nvSpPr>
          <p:cNvPr id="13" name="callout-2-number"/>
          <p:cNvSpPr txBox="1"/>
          <p:nvPr/>
        </p:nvSpPr>
        <p:spPr>
          <a:xfrm>
            <a:off x="8138160" y="3200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callout-2-heading"/>
          <p:cNvSpPr txBox="1"/>
          <p:nvPr/>
        </p:nvSpPr>
        <p:spPr>
          <a:xfrm>
            <a:off x="8732520" y="321868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Index vs full scan</a:t>
            </a:r>
            <a:endParaRPr lang="en-US" sz="1600" dirty="0"/>
          </a:p>
        </p:txBody>
      </p:sp>
      <p:sp>
        <p:nvSpPr>
          <p:cNvPr id="15" name="callout-2-body"/>
          <p:cNvSpPr txBox="1"/>
          <p:nvPr/>
        </p:nvSpPr>
        <p:spPr>
          <a:xfrm>
            <a:off x="8732520" y="3675888"/>
            <a:ext cx="2907792" cy="914400"/>
          </a:xfrm>
          <a:prstGeom prst="rect">
            <a:avLst/>
          </a:prstGeom>
          <a:noFill/>
          <a:ln/>
        </p:spPr>
        <p:txBody>
          <a:bodyPr wrap="square" lIns="0" tIns="0" rIns="0" bIns="0" rtlCol="0" anchor="t"/>
          <a:lstStyle/>
          <a:p>
            <a:pPr indent="0" marL="0">
              <a:buNone/>
            </a:pPr>
            <a:r>
              <a:rPr lang="en-US" sz="1400" dirty="0">
                <a:solidFill>
                  <a:schemeClr val="tx2"/>
                </a:solidFill>
              </a:rPr>
              <a:t>Missing ID: the index proves it in 3 node reads; a scan reads all 22 rows.</a:t>
            </a:r>
            <a:endParaRPr lang="en-US" sz="1400" dirty="0"/>
          </a:p>
        </p:txBody>
      </p:sp>
      <p:sp>
        <p:nvSpPr>
          <p:cNvPr id="16" name="callout-3-circle"/>
          <p:cNvSpPr/>
          <p:nvPr/>
        </p:nvSpPr>
        <p:spPr>
          <a:xfrm>
            <a:off x="8138160" y="4754880"/>
            <a:ext cx="457200" cy="457200"/>
          </a:xfrm>
          <a:prstGeom prst="ellipse">
            <a:avLst/>
          </a:prstGeom>
          <a:solidFill>
            <a:schemeClr val="accent2"/>
          </a:solidFill>
          <a:ln w="12700">
            <a:solidFill>
              <a:schemeClr val="accent2"/>
            </a:solidFill>
            <a:prstDash val="solid"/>
          </a:ln>
        </p:spPr>
      </p:sp>
      <p:sp>
        <p:nvSpPr>
          <p:cNvPr id="17" name="callout-3-number"/>
          <p:cNvSpPr txBox="1"/>
          <p:nvPr/>
        </p:nvSpPr>
        <p:spPr>
          <a:xfrm>
            <a:off x="8138160" y="4754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callout-3-heading"/>
          <p:cNvSpPr txBox="1"/>
          <p:nvPr/>
        </p:nvSpPr>
        <p:spPr>
          <a:xfrm>
            <a:off x="8732520" y="4773168"/>
            <a:ext cx="2907792" cy="420624"/>
          </a:xfrm>
          <a:prstGeom prst="rect">
            <a:avLst/>
          </a:prstGeom>
          <a:noFill/>
          <a:ln/>
        </p:spPr>
        <p:txBody>
          <a:bodyPr wrap="square" lIns="0" tIns="0" rIns="0" bIns="0" rtlCol="0" anchor="ctr"/>
          <a:lstStyle/>
          <a:p>
            <a:pPr indent="0" marL="0">
              <a:buNone/>
            </a:pPr>
            <a:r>
              <a:rPr lang="en-US" sz="1600" b="1" dirty="0">
                <a:solidFill>
                  <a:schemeClr val="tx1"/>
                </a:solidFill>
              </a:rPr>
              <a:t>Self-check PASSED</a:t>
            </a:r>
            <a:endParaRPr lang="en-US" sz="1600" dirty="0"/>
          </a:p>
        </p:txBody>
      </p:sp>
      <p:sp>
        <p:nvSpPr>
          <p:cNvPr id="19" name="callout-3-body"/>
          <p:cNvSpPr txBox="1"/>
          <p:nvPr/>
        </p:nvSpPr>
        <p:spPr>
          <a:xfrm>
            <a:off x="8732520" y="5230368"/>
            <a:ext cx="2907792" cy="914400"/>
          </a:xfrm>
          <a:prstGeom prst="rect">
            <a:avLst/>
          </a:prstGeom>
          <a:noFill/>
          <a:ln/>
        </p:spPr>
        <p:txBody>
          <a:bodyPr wrap="square" lIns="0" tIns="0" rIns="0" bIns="0" rtlCol="0" anchor="t"/>
          <a:lstStyle/>
          <a:p>
            <a:pPr indent="0" marL="0">
              <a:buNone/>
            </a:pPr>
            <a:r>
              <a:rPr lang="en-US" sz="1400" dirty="0">
                <a:solidFill>
                  <a:schemeClr val="tx2"/>
                </a:solidFill>
              </a:rPr>
              <a:t>Plus 22 randomized test runs × 4,000 operations, checked against std::map.</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08</a:t>
            </a:r>
            <a:endParaRPr lang="en-US" sz="1100" dirty="0"/>
          </a:p>
        </p:txBody>
      </p:sp>
      <p:sp>
        <p:nvSpPr>
          <p:cNvPr id="4" name="kicker-label-cell"/>
          <p:cNvSpPr/>
          <p:nvPr/>
        </p:nvSpPr>
        <p:spPr>
          <a:xfrm>
            <a:off x="1005840" y="274320"/>
            <a:ext cx="863194" cy="274320"/>
          </a:xfrm>
          <a:prstGeom prst="rect">
            <a:avLst/>
          </a:prstGeom>
          <a:solidFill>
            <a:schemeClr val="bg2"/>
          </a:solidFill>
          <a:ln w="12700">
            <a:solidFill>
              <a:schemeClr val="accent2"/>
            </a:solidFill>
            <a:prstDash val="solid"/>
          </a:ln>
        </p:spPr>
      </p:sp>
      <p:sp>
        <p:nvSpPr>
          <p:cNvPr id="5" name="kicker-label"/>
          <p:cNvSpPr txBox="1"/>
          <p:nvPr/>
        </p:nvSpPr>
        <p:spPr>
          <a:xfrm>
            <a:off x="1005840" y="274320"/>
            <a:ext cx="863194"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RESULTS</a:t>
            </a:r>
            <a:endParaRPr lang="en-US" sz="1100" dirty="0"/>
          </a:p>
        </p:txBody>
      </p:sp>
      <p:sp>
        <p:nvSpPr>
          <p:cNvPr id="6" name="Text 0"/>
          <p:cNvSpPr/>
          <p:nvPr>
            <p:ph idx="100" type="title" hasCustomPrompt="1"/>
          </p:nvPr>
        </p:nvSpPr>
        <p:spPr>
          <a:xfrm>
            <a:off x="548640" y="658368"/>
            <a:ext cx="11064240" cy="731520"/>
          </a:xfrm>
          <a:prstGeom prst="rect">
            <a:avLst/>
          </a:prstGeom>
          <a:noFill/>
          <a:ln/>
        </p:spPr>
        <p:txBody>
          <a:bodyPr wrap="square" lIns="0" tIns="0" rIns="0" bIns="0" rtlCol="0" anchor="t"/>
          <a:lstStyle/>
          <a:p>
            <a:pPr algn="l" indent="0" marL="0">
              <a:buNone/>
            </a:pPr>
            <a:r>
              <a:rPr lang="en-US" sz="3200" b="1" dirty="0">
                <a:solidFill>
                  <a:schemeClr val="tx1"/>
                </a:solidFill>
              </a:rPr>
              <a:t>1000× more data, just one more level</a:t>
            </a:r>
            <a:endParaRPr lang="en-US" sz="3200" dirty="0"/>
          </a:p>
        </p:txBody>
      </p:sp>
      <p:graphicFrame>
        <p:nvGraphicFramePr>
          <p:cNvPr id="7" name="scalability-chart" descr=""/>
          <p:cNvGraphicFramePr/>
          <p:nvPr/>
        </p:nvGraphicFramePr>
        <p:xfrm>
          <a:off x="548640" y="160020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8" name="levels-stat-value"/>
          <p:cNvSpPr txBox="1"/>
          <p:nvPr/>
        </p:nvSpPr>
        <p:spPr>
          <a:xfrm>
            <a:off x="8092440" y="1645920"/>
            <a:ext cx="3520440" cy="86868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+1 level</a:t>
            </a:r>
            <a:endParaRPr lang="en-US" sz="4400" dirty="0"/>
          </a:p>
        </p:txBody>
      </p:sp>
      <p:sp>
        <p:nvSpPr>
          <p:cNvPr id="9" name="levels-stat-label"/>
          <p:cNvSpPr txBox="1"/>
          <p:nvPr/>
        </p:nvSpPr>
        <p:spPr>
          <a:xfrm>
            <a:off x="8092440" y="2560320"/>
            <a:ext cx="3520440" cy="566928"/>
          </a:xfrm>
          <a:prstGeom prst="rect">
            <a:avLst/>
          </a:prstGeom>
          <a:noFill/>
          <a:ln/>
        </p:spPr>
        <p:txBody>
          <a:bodyPr wrap="square" lIns="0" tIns="0" rIns="0" bIns="0" rtlCol="0" anchor="t"/>
          <a:lstStyle/>
          <a:p>
            <a:pPr indent="0" marL="0">
              <a:buNone/>
            </a:pPr>
            <a:r>
              <a:rPr lang="en-US" sz="1400" dirty="0">
                <a:solidFill>
                  <a:schemeClr val="tx2"/>
                </a:solidFill>
              </a:rPr>
              <a:t>from 1,000 to 1,000,000 records (height 2 → 3 at order 128)</a:t>
            </a:r>
            <a:endParaRPr lang="en-US" sz="1400" dirty="0"/>
          </a:p>
        </p:txBody>
      </p:sp>
      <p:sp>
        <p:nvSpPr>
          <p:cNvPr id="10" name="speedup-stat-value"/>
          <p:cNvSpPr txBox="1"/>
          <p:nvPr/>
        </p:nvSpPr>
        <p:spPr>
          <a:xfrm>
            <a:off x="8092440" y="3200400"/>
            <a:ext cx="3520440" cy="868680"/>
          </a:xfrm>
          <a:prstGeom prst="rect">
            <a:avLst/>
          </a:prstGeom>
          <a:noFill/>
          <a:ln/>
        </p:spPr>
        <p:txBody>
          <a:bodyPr wrap="square" lIns="0" tIns="0" rIns="0" bIns="0" rtlCol="0" anchor="b"/>
          <a:lstStyle/>
          <a:p>
            <a:pPr indent="0" marL="0">
              <a:buNone/>
            </a:pPr>
            <a:r>
              <a:rPr lang="en-US" sz="4400" b="1" dirty="0">
                <a:solidFill>
                  <a:schemeClr val="accent2"/>
                </a:solidFill>
                <a:latin typeface="Cambria" pitchFamily="34" charset="0"/>
                <a:ea typeface="Cambria" pitchFamily="34" charset="-122"/>
                <a:cs typeface="Cambria" pitchFamily="34" charset="-120"/>
              </a:rPr>
              <a:t>365×</a:t>
            </a:r>
            <a:endParaRPr lang="en-US" sz="4400" dirty="0"/>
          </a:p>
        </p:txBody>
      </p:sp>
      <p:sp>
        <p:nvSpPr>
          <p:cNvPr id="11" name="speedup-stat-label"/>
          <p:cNvSpPr txBox="1"/>
          <p:nvPr/>
        </p:nvSpPr>
        <p:spPr>
          <a:xfrm>
            <a:off x="8092440" y="4114800"/>
            <a:ext cx="3520440" cy="566928"/>
          </a:xfrm>
          <a:prstGeom prst="rect">
            <a:avLst/>
          </a:prstGeom>
          <a:noFill/>
          <a:ln/>
        </p:spPr>
        <p:txBody>
          <a:bodyPr wrap="square" lIns="0" tIns="0" rIns="0" bIns="0" rtlCol="0" anchor="t"/>
          <a:lstStyle/>
          <a:p>
            <a:pPr indent="0" marL="0">
              <a:buNone/>
            </a:pPr>
            <a:r>
              <a:rPr lang="en-US" sz="1400" dirty="0">
                <a:solidFill>
                  <a:schemeClr val="tx2"/>
                </a:solidFill>
              </a:rPr>
              <a:t>faster than a linear scan at 1M records</a:t>
            </a:r>
            <a:endParaRPr lang="en-US" sz="1400" dirty="0"/>
          </a:p>
        </p:txBody>
      </p:sp>
      <p:sp>
        <p:nvSpPr>
          <p:cNvPr id="12" name="order-stat-value"/>
          <p:cNvSpPr txBox="1"/>
          <p:nvPr/>
        </p:nvSpPr>
        <p:spPr>
          <a:xfrm>
            <a:off x="8092440" y="4754880"/>
            <a:ext cx="3520440" cy="868680"/>
          </a:xfrm>
          <a:prstGeom prst="rect">
            <a:avLst/>
          </a:prstGeom>
          <a:noFill/>
          <a:ln/>
        </p:spPr>
        <p:txBody>
          <a:bodyPr wrap="square" lIns="0" tIns="0" rIns="0" bIns="0" rtlCol="0" anchor="b"/>
          <a:lstStyle/>
          <a:p>
            <a:pPr indent="0" marL="0">
              <a:buNone/>
            </a:pPr>
            <a:r>
              <a:rPr lang="en-US" sz="4400" b="1" dirty="0">
                <a:solidFill>
                  <a:schemeClr val="accent3"/>
                </a:solidFill>
                <a:latin typeface="Cambria" pitchFamily="34" charset="0"/>
                <a:ea typeface="Cambria" pitchFamily="34" charset="-122"/>
                <a:cs typeface="Cambria" pitchFamily="34" charset="-120"/>
              </a:rPr>
              <a:t>13 vs 3</a:t>
            </a:r>
            <a:endParaRPr lang="en-US" sz="4400" dirty="0"/>
          </a:p>
        </p:txBody>
      </p:sp>
      <p:sp>
        <p:nvSpPr>
          <p:cNvPr id="13" name="order-stat-label"/>
          <p:cNvSpPr txBox="1"/>
          <p:nvPr/>
        </p:nvSpPr>
        <p:spPr>
          <a:xfrm>
            <a:off x="8092440" y="5669280"/>
            <a:ext cx="3520440" cy="566928"/>
          </a:xfrm>
          <a:prstGeom prst="rect">
            <a:avLst/>
          </a:prstGeom>
          <a:noFill/>
          <a:ln/>
        </p:spPr>
        <p:txBody>
          <a:bodyPr wrap="square" lIns="0" tIns="0" rIns="0" bIns="0" rtlCol="0" anchor="t"/>
          <a:lstStyle/>
          <a:p>
            <a:pPr indent="0" marL="0">
              <a:buNone/>
            </a:pPr>
            <a:r>
              <a:rPr lang="en-US" sz="1400" dirty="0">
                <a:solidFill>
                  <a:schemeClr val="tx2"/>
                </a:solidFill>
              </a:rPr>
              <a:t>node reads per lookup at order 4 vs order 128 (1M records)</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icker-number-cell"/>
          <p:cNvSpPr/>
          <p:nvPr/>
        </p:nvSpPr>
        <p:spPr>
          <a:xfrm>
            <a:off x="548640" y="274320"/>
            <a:ext cx="457200" cy="274320"/>
          </a:xfrm>
          <a:prstGeom prst="rect">
            <a:avLst/>
          </a:prstGeom>
          <a:solidFill>
            <a:schemeClr val="accent2"/>
          </a:solidFill>
          <a:ln w="12700">
            <a:solidFill>
              <a:schemeClr val="accent2"/>
            </a:solidFill>
            <a:prstDash val="solid"/>
          </a:ln>
        </p:spPr>
      </p:sp>
      <p:sp>
        <p:nvSpPr>
          <p:cNvPr id="3" name="kicker-number"/>
          <p:cNvSpPr txBox="1"/>
          <p:nvPr/>
        </p:nvSpPr>
        <p:spPr>
          <a:xfrm>
            <a:off x="548640" y="274320"/>
            <a:ext cx="457200" cy="274320"/>
          </a:xfrm>
          <a:prstGeom prst="rect">
            <a:avLst/>
          </a:prstGeom>
          <a:noFill/>
          <a:ln/>
        </p:spPr>
        <p:txBody>
          <a:bodyPr wrap="square" lIns="0" tIns="0" rIns="0" bIns="0" rtlCol="0" anchor="ctr"/>
          <a:lstStyle/>
          <a:p>
            <a:pPr algn="ctr" indent="0" marL="0">
              <a:buNone/>
            </a:pPr>
            <a:r>
              <a:rPr lang="en-US" sz="1100" b="1" dirty="0">
                <a:solidFill>
                  <a:schemeClr val="bg1"/>
                </a:solidFill>
              </a:rPr>
              <a:t>✓</a:t>
            </a:r>
            <a:endParaRPr lang="en-US" sz="1100" dirty="0"/>
          </a:p>
        </p:txBody>
      </p:sp>
      <p:sp>
        <p:nvSpPr>
          <p:cNvPr id="4" name="kicker-label-cell"/>
          <p:cNvSpPr/>
          <p:nvPr/>
        </p:nvSpPr>
        <p:spPr>
          <a:xfrm>
            <a:off x="1005840" y="274320"/>
            <a:ext cx="863194" cy="274320"/>
          </a:xfrm>
          <a:prstGeom prst="rect">
            <a:avLst/>
          </a:prstGeom>
          <a:solidFill>
            <a:schemeClr val="tx1"/>
          </a:solidFill>
          <a:ln w="12700">
            <a:solidFill>
              <a:schemeClr val="accent2"/>
            </a:solidFill>
            <a:prstDash val="solid"/>
          </a:ln>
        </p:spPr>
      </p:sp>
      <p:sp>
        <p:nvSpPr>
          <p:cNvPr id="5" name="kicker-label"/>
          <p:cNvSpPr txBox="1"/>
          <p:nvPr/>
        </p:nvSpPr>
        <p:spPr>
          <a:xfrm>
            <a:off x="1005840" y="274320"/>
            <a:ext cx="863194" cy="274320"/>
          </a:xfrm>
          <a:prstGeom prst="rect">
            <a:avLst/>
          </a:prstGeom>
          <a:noFill/>
          <a:ln/>
        </p:spPr>
        <p:txBody>
          <a:bodyPr wrap="square" lIns="0" tIns="0" rIns="0" bIns="0" rtlCol="0" anchor="ctr"/>
          <a:lstStyle/>
          <a:p>
            <a:pPr algn="ctr" indent="0" marL="0">
              <a:buNone/>
            </a:pPr>
            <a:r>
              <a:rPr lang="en-US" sz="1100" b="1" spc="100" kern="0" dirty="0">
                <a:solidFill>
                  <a:schemeClr val="bg2"/>
                </a:solidFill>
              </a:rPr>
              <a:t>WRAP-UP</a:t>
            </a:r>
            <a:endParaRPr lang="en-US" sz="1100" dirty="0"/>
          </a:p>
        </p:txBody>
      </p:sp>
      <p:sp>
        <p:nvSpPr>
          <p:cNvPr id="6" name="Text 0"/>
          <p:cNvSpPr/>
          <p:nvPr>
            <p:ph idx="100" type="title" hasCustomPrompt="1"/>
          </p:nvPr>
        </p:nvSpPr>
        <p:spPr>
          <a:xfrm>
            <a:off x="731520" y="1463040"/>
            <a:ext cx="10698480" cy="1005840"/>
          </a:xfrm>
          <a:prstGeom prst="rect">
            <a:avLst/>
          </a:prstGeom>
          <a:noFill/>
          <a:ln/>
        </p:spPr>
        <p:txBody>
          <a:bodyPr wrap="square" lIns="0" tIns="0" rIns="0" bIns="0" rtlCol="0" anchor="b"/>
          <a:lstStyle/>
          <a:p>
            <a:pPr algn="l" indent="0" marL="0">
              <a:buNone/>
            </a:pPr>
            <a:r>
              <a:rPr lang="en-US" sz="4400" b="1" dirty="0">
                <a:solidFill>
                  <a:schemeClr val="bg1"/>
                </a:solidFill>
              </a:rPr>
              <a:t>Key takeaways</a:t>
            </a:r>
            <a:endParaRPr lang="en-US" sz="4400" dirty="0"/>
          </a:p>
        </p:txBody>
      </p:sp>
      <p:sp>
        <p:nvSpPr>
          <p:cNvPr id="7" name="Text 0"/>
          <p:cNvSpPr/>
          <p:nvPr>
            <p:ph idx="101" type="body" hasCustomPrompt="1"/>
          </p:nvPr>
        </p:nvSpPr>
        <p:spPr>
          <a:xfrm>
            <a:off x="731520" y="2606040"/>
            <a:ext cx="10698480" cy="548640"/>
          </a:xfrm>
          <a:prstGeom prst="rect">
            <a:avLst/>
          </a:prstGeom>
          <a:noFill/>
          <a:ln/>
        </p:spPr>
        <p:txBody>
          <a:bodyPr wrap="square" lIns="0" tIns="0" rIns="0" bIns="0" rtlCol="0" anchor="t"/>
          <a:lstStyle/>
          <a:p>
            <a:pPr algn="l" indent="0" marL="0">
              <a:buNone/>
            </a:pPr>
            <a:r>
              <a:rPr lang="en-US" sz="2200" dirty="0">
                <a:solidFill>
                  <a:schemeClr val="bg2"/>
                </a:solidFill>
              </a:rPr>
              <a:t>Wide nodes · linked leaves · always balanced</a:t>
            </a:r>
            <a:endParaRPr lang="en-US" sz="2200" dirty="0"/>
          </a:p>
        </p:txBody>
      </p:sp>
      <p:sp>
        <p:nvSpPr>
          <p:cNvPr id="8" name="takeaway-1-card"/>
          <p:cNvSpPr/>
          <p:nvPr/>
        </p:nvSpPr>
        <p:spPr>
          <a:xfrm>
            <a:off x="731520" y="3429000"/>
            <a:ext cx="3383280" cy="1874520"/>
          </a:xfrm>
          <a:prstGeom prst="roundRect">
            <a:avLst>
              <a:gd name="adj" fmla="val 3902"/>
            </a:avLst>
          </a:prstGeom>
          <a:solidFill>
            <a:srgbClr val="243044"/>
          </a:solidFill>
          <a:ln w="12700">
            <a:solidFill>
              <a:srgbClr val="334155"/>
            </a:solidFill>
            <a:prstDash val="solid"/>
          </a:ln>
        </p:spPr>
      </p:sp>
      <p:sp>
        <p:nvSpPr>
          <p:cNvPr id="9" name="takeaway-1-circle"/>
          <p:cNvSpPr/>
          <p:nvPr/>
        </p:nvSpPr>
        <p:spPr>
          <a:xfrm>
            <a:off x="960120" y="3639312"/>
            <a:ext cx="548640" cy="548640"/>
          </a:xfrm>
          <a:prstGeom prst="ellipse">
            <a:avLst/>
          </a:prstGeom>
          <a:solidFill>
            <a:schemeClr val="accent2"/>
          </a:solidFill>
          <a:ln w="12700">
            <a:solidFill>
              <a:schemeClr val="accent2"/>
            </a:solidFill>
            <a:prstDash val="solid"/>
          </a:ln>
        </p:spPr>
      </p:sp>
      <p:pic>
        <p:nvPicPr>
          <p:cNvPr id="10" name="takeaway-1-icon" descr="takeaway-1">    </p:cNvPr>
          <p:cNvPicPr>
            <a:picLocks noChangeAspect="1"/>
          </p:cNvPicPr>
          <p:nvPr/>
        </p:nvPicPr>
        <p:blipFill>
          <a:blip r:embed="rId1"/>
          <a:stretch>
            <a:fillRect/>
          </a:stretch>
        </p:blipFill>
        <p:spPr>
          <a:xfrm>
            <a:off x="1091794" y="3770986"/>
            <a:ext cx="285293" cy="285293"/>
          </a:xfrm>
          <a:prstGeom prst="rect">
            <a:avLst/>
          </a:prstGeom>
        </p:spPr>
      </p:pic>
      <p:sp>
        <p:nvSpPr>
          <p:cNvPr id="11" name="takeaway-1-heading"/>
          <p:cNvSpPr txBox="1"/>
          <p:nvPr/>
        </p:nvSpPr>
        <p:spPr>
          <a:xfrm>
            <a:off x="1645920" y="3639312"/>
            <a:ext cx="2331720" cy="548640"/>
          </a:xfrm>
          <a:prstGeom prst="rect">
            <a:avLst/>
          </a:prstGeom>
          <a:noFill/>
          <a:ln/>
        </p:spPr>
        <p:txBody>
          <a:bodyPr wrap="square" lIns="0" tIns="0" rIns="0" bIns="0" rtlCol="0" anchor="ctr"/>
          <a:lstStyle/>
          <a:p>
            <a:pPr indent="0" marL="0">
              <a:buNone/>
            </a:pPr>
            <a:r>
              <a:rPr lang="en-US" sz="1700" b="1" dirty="0">
                <a:solidFill>
                  <a:schemeClr val="bg1"/>
                </a:solidFill>
              </a:rPr>
              <a:t>Shallow by design</a:t>
            </a:r>
            <a:endParaRPr lang="en-US" sz="1700" dirty="0"/>
          </a:p>
        </p:txBody>
      </p:sp>
      <p:sp>
        <p:nvSpPr>
          <p:cNvPr id="12" name="takeaway-1-body"/>
          <p:cNvSpPr txBox="1"/>
          <p:nvPr/>
        </p:nvSpPr>
        <p:spPr>
          <a:xfrm>
            <a:off x="960120" y="4343400"/>
            <a:ext cx="2971800" cy="868680"/>
          </a:xfrm>
          <a:prstGeom prst="rect">
            <a:avLst/>
          </a:prstGeom>
          <a:noFill/>
          <a:ln/>
        </p:spPr>
        <p:txBody>
          <a:bodyPr wrap="square" lIns="0" tIns="0" rIns="0" bIns="0" rtlCol="0" anchor="t"/>
          <a:lstStyle/>
          <a:p>
            <a:pPr indent="0" marL="0">
              <a:buNone/>
            </a:pPr>
            <a:r>
              <a:rPr lang="en-US" sz="1400" dirty="0">
                <a:solidFill>
                  <a:srgbClr val="CBD5E1"/>
                </a:solidFill>
              </a:rPr>
              <a:t>Hundreds of keys per node keep even huge tables 3–4 levels deep.</a:t>
            </a:r>
            <a:endParaRPr lang="en-US" sz="1400" dirty="0"/>
          </a:p>
        </p:txBody>
      </p:sp>
      <p:sp>
        <p:nvSpPr>
          <p:cNvPr id="13" name="takeaway-2-card"/>
          <p:cNvSpPr/>
          <p:nvPr/>
        </p:nvSpPr>
        <p:spPr>
          <a:xfrm>
            <a:off x="4361688" y="3429000"/>
            <a:ext cx="3383280" cy="1874520"/>
          </a:xfrm>
          <a:prstGeom prst="roundRect">
            <a:avLst>
              <a:gd name="adj" fmla="val 3902"/>
            </a:avLst>
          </a:prstGeom>
          <a:solidFill>
            <a:srgbClr val="243044"/>
          </a:solidFill>
          <a:ln w="12700">
            <a:solidFill>
              <a:srgbClr val="334155"/>
            </a:solidFill>
            <a:prstDash val="solid"/>
          </a:ln>
        </p:spPr>
      </p:sp>
      <p:sp>
        <p:nvSpPr>
          <p:cNvPr id="14" name="takeaway-2-circle"/>
          <p:cNvSpPr/>
          <p:nvPr/>
        </p:nvSpPr>
        <p:spPr>
          <a:xfrm>
            <a:off x="4590288" y="3639312"/>
            <a:ext cx="548640" cy="548640"/>
          </a:xfrm>
          <a:prstGeom prst="ellipse">
            <a:avLst/>
          </a:prstGeom>
          <a:solidFill>
            <a:schemeClr val="accent1"/>
          </a:solidFill>
          <a:ln w="12700">
            <a:solidFill>
              <a:schemeClr val="accent1"/>
            </a:solidFill>
            <a:prstDash val="solid"/>
          </a:ln>
        </p:spPr>
      </p:sp>
      <p:pic>
        <p:nvPicPr>
          <p:cNvPr id="15" name="takeaway-2-icon" descr="takeaway-2">    </p:cNvPr>
          <p:cNvPicPr>
            <a:picLocks noChangeAspect="1"/>
          </p:cNvPicPr>
          <p:nvPr/>
        </p:nvPicPr>
        <p:blipFill>
          <a:blip r:embed="rId2"/>
          <a:stretch>
            <a:fillRect/>
          </a:stretch>
        </p:blipFill>
        <p:spPr>
          <a:xfrm>
            <a:off x="4721962" y="3770986"/>
            <a:ext cx="285293" cy="285293"/>
          </a:xfrm>
          <a:prstGeom prst="rect">
            <a:avLst/>
          </a:prstGeom>
        </p:spPr>
      </p:pic>
      <p:sp>
        <p:nvSpPr>
          <p:cNvPr id="16" name="takeaway-2-heading"/>
          <p:cNvSpPr txBox="1"/>
          <p:nvPr/>
        </p:nvSpPr>
        <p:spPr>
          <a:xfrm>
            <a:off x="5276088" y="3639312"/>
            <a:ext cx="2331720" cy="548640"/>
          </a:xfrm>
          <a:prstGeom prst="rect">
            <a:avLst/>
          </a:prstGeom>
          <a:noFill/>
          <a:ln/>
        </p:spPr>
        <p:txBody>
          <a:bodyPr wrap="square" lIns="0" tIns="0" rIns="0" bIns="0" rtlCol="0" anchor="ctr"/>
          <a:lstStyle/>
          <a:p>
            <a:pPr indent="0" marL="0">
              <a:buNone/>
            </a:pPr>
            <a:r>
              <a:rPr lang="en-US" sz="1700" b="1" dirty="0">
                <a:solidFill>
                  <a:schemeClr val="bg1"/>
                </a:solidFill>
              </a:rPr>
              <a:t>Ranges for free</a:t>
            </a:r>
            <a:endParaRPr lang="en-US" sz="1700" dirty="0"/>
          </a:p>
        </p:txBody>
      </p:sp>
      <p:sp>
        <p:nvSpPr>
          <p:cNvPr id="17" name="takeaway-2-body"/>
          <p:cNvSpPr txBox="1"/>
          <p:nvPr/>
        </p:nvSpPr>
        <p:spPr>
          <a:xfrm>
            <a:off x="4590288" y="4343400"/>
            <a:ext cx="2971800" cy="868680"/>
          </a:xfrm>
          <a:prstGeom prst="rect">
            <a:avLst/>
          </a:prstGeom>
          <a:noFill/>
          <a:ln/>
        </p:spPr>
        <p:txBody>
          <a:bodyPr wrap="square" lIns="0" tIns="0" rIns="0" bIns="0" rtlCol="0" anchor="t"/>
          <a:lstStyle/>
          <a:p>
            <a:pPr indent="0" marL="0">
              <a:buNone/>
            </a:pPr>
            <a:r>
              <a:rPr lang="en-US" sz="1400" dirty="0">
                <a:solidFill>
                  <a:srgbClr val="CBD5E1"/>
                </a:solidFill>
              </a:rPr>
              <a:t>Linked leaves turn range queries into one descent plus a sequential scan.</a:t>
            </a:r>
            <a:endParaRPr lang="en-US" sz="1400" dirty="0"/>
          </a:p>
        </p:txBody>
      </p:sp>
      <p:sp>
        <p:nvSpPr>
          <p:cNvPr id="18" name="takeaway-3-card"/>
          <p:cNvSpPr/>
          <p:nvPr/>
        </p:nvSpPr>
        <p:spPr>
          <a:xfrm>
            <a:off x="7991856" y="3429000"/>
            <a:ext cx="3383280" cy="1874520"/>
          </a:xfrm>
          <a:prstGeom prst="roundRect">
            <a:avLst>
              <a:gd name="adj" fmla="val 3902"/>
            </a:avLst>
          </a:prstGeom>
          <a:solidFill>
            <a:srgbClr val="243044"/>
          </a:solidFill>
          <a:ln w="12700">
            <a:solidFill>
              <a:srgbClr val="334155"/>
            </a:solidFill>
            <a:prstDash val="solid"/>
          </a:ln>
        </p:spPr>
      </p:sp>
      <p:sp>
        <p:nvSpPr>
          <p:cNvPr id="19" name="takeaway-3-circle"/>
          <p:cNvSpPr/>
          <p:nvPr/>
        </p:nvSpPr>
        <p:spPr>
          <a:xfrm>
            <a:off x="8220456" y="3639312"/>
            <a:ext cx="548640" cy="548640"/>
          </a:xfrm>
          <a:prstGeom prst="ellipse">
            <a:avLst/>
          </a:prstGeom>
          <a:solidFill>
            <a:schemeClr val="accent3"/>
          </a:solidFill>
          <a:ln w="12700">
            <a:solidFill>
              <a:schemeClr val="accent3"/>
            </a:solidFill>
            <a:prstDash val="solid"/>
          </a:ln>
        </p:spPr>
      </p:sp>
      <p:pic>
        <p:nvPicPr>
          <p:cNvPr id="20" name="takeaway-3-icon" descr="takeaway-3">    </p:cNvPr>
          <p:cNvPicPr>
            <a:picLocks noChangeAspect="1"/>
          </p:cNvPicPr>
          <p:nvPr/>
        </p:nvPicPr>
        <p:blipFill>
          <a:blip r:embed="rId3"/>
          <a:stretch>
            <a:fillRect/>
          </a:stretch>
        </p:blipFill>
        <p:spPr>
          <a:xfrm>
            <a:off x="8352130" y="3770986"/>
            <a:ext cx="285293" cy="285293"/>
          </a:xfrm>
          <a:prstGeom prst="rect">
            <a:avLst/>
          </a:prstGeom>
        </p:spPr>
      </p:pic>
      <p:sp>
        <p:nvSpPr>
          <p:cNvPr id="21" name="takeaway-3-heading"/>
          <p:cNvSpPr txBox="1"/>
          <p:nvPr/>
        </p:nvSpPr>
        <p:spPr>
          <a:xfrm>
            <a:off x="8906256" y="3639312"/>
            <a:ext cx="2331720" cy="548640"/>
          </a:xfrm>
          <a:prstGeom prst="rect">
            <a:avLst/>
          </a:prstGeom>
          <a:noFill/>
          <a:ln/>
        </p:spPr>
        <p:txBody>
          <a:bodyPr wrap="square" lIns="0" tIns="0" rIns="0" bIns="0" rtlCol="0" anchor="ctr"/>
          <a:lstStyle/>
          <a:p>
            <a:pPr indent="0" marL="0">
              <a:buNone/>
            </a:pPr>
            <a:r>
              <a:rPr lang="en-US" sz="1700" b="1" dirty="0">
                <a:solidFill>
                  <a:schemeClr val="bg1"/>
                </a:solidFill>
              </a:rPr>
              <a:t>Built for the cloud</a:t>
            </a:r>
            <a:endParaRPr lang="en-US" sz="1700" dirty="0"/>
          </a:p>
        </p:txBody>
      </p:sp>
      <p:sp>
        <p:nvSpPr>
          <p:cNvPr id="22" name="takeaway-3-body"/>
          <p:cNvSpPr txBox="1"/>
          <p:nvPr/>
        </p:nvSpPr>
        <p:spPr>
          <a:xfrm>
            <a:off x="8220456" y="4343400"/>
            <a:ext cx="2971800" cy="868680"/>
          </a:xfrm>
          <a:prstGeom prst="rect">
            <a:avLst/>
          </a:prstGeom>
          <a:noFill/>
          <a:ln/>
        </p:spPr>
        <p:txBody>
          <a:bodyPr wrap="square" lIns="0" tIns="0" rIns="0" bIns="0" rtlCol="0" anchor="t"/>
          <a:lstStyle/>
          <a:p>
            <a:pPr indent="0" marL="0">
              <a:buNone/>
            </a:pPr>
            <a:r>
              <a:rPr lang="en-US" sz="1400" dirty="0">
                <a:solidFill>
                  <a:srgbClr val="CBD5E1"/>
                </a:solidFill>
              </a:rPr>
              <a:t>Few storage reads per lookup — what DynamoDB, Aurora and Azure SQL rely on.</a:t>
            </a:r>
            <a:endParaRPr lang="en-US" sz="1400" dirty="0"/>
          </a:p>
        </p:txBody>
      </p:sp>
      <p:sp>
        <p:nvSpPr>
          <p:cNvPr id="23" name="repo-link"/>
          <p:cNvSpPr txBox="1"/>
          <p:nvPr/>
        </p:nvSpPr>
        <p:spPr>
          <a:xfrm>
            <a:off x="731520" y="5623560"/>
            <a:ext cx="10789920" cy="411480"/>
          </a:xfrm>
          <a:prstGeom prst="rect">
            <a:avLst/>
          </a:prstGeom>
          <a:noFill/>
          <a:ln/>
        </p:spPr>
        <p:txBody>
          <a:bodyPr wrap="square" lIns="0" tIns="0" rIns="0" bIns="0" rtlCol="0" anchor="ctr"/>
          <a:lstStyle/>
          <a:p>
            <a:pPr indent="0" marL="0">
              <a:buNone/>
            </a:pPr>
            <a:r>
              <a:rPr lang="en-US" sz="1600" dirty="0">
                <a:solidFill>
                  <a:srgbClr val="CBD5E1"/>
                </a:solidFill>
              </a:rPr>
              <a:t>Code, report, UML and diagrams:  </a:t>
            </a:r>
            <a:pPr indent="0" marL="0">
              <a:buNone/>
            </a:pPr>
            <a:r>
              <a:rPr lang="en-US" sz="1600" b="1" u="sng" dirty="0">
                <a:solidFill>
                  <a:srgbClr val="5EEAD4"/>
                </a:solidFill>
                <a:hlinkClick r:id="rId4" invalidUrl="" action="" tgtFrame="" tooltip="" history="1" highlightClick="0" endSnd="0">
                  <a:extLst>
                    <a:ext uri="{A12FA001-AC4F-418D-AE19-62706E023703}">
                      <ahyp:hlinkClr xmlns:ahyp="http://schemas.microsoft.com/office/drawing/2018/hyperlinkcolor" val="tx"/>
                    </a:ext>
                  </a:extLst>
                </a:hlinkClick>
              </a:rPr>
              <a:t>github.com/Pranavxoxo/BLAST01-BPlusTree-Cloud-Index</a:t>
            </a:r>
            <a:endParaRPr lang="en-US" sz="16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BLAST01 Forest Index">
  <a:themeElements>
    <a:clrScheme name="BLAST01 Forest Index">
      <a:dk1>
        <a:srgbClr val="1B2430"/>
      </a:dk1>
      <a:lt1>
        <a:srgbClr val="FFFFFF"/>
      </a:lt1>
      <a:dk2>
        <a:srgbClr val="475569"/>
      </a:dk2>
      <a:lt2>
        <a:srgbClr val="E0F2FE"/>
      </a:lt2>
      <a:accent1>
        <a:srgbClr val="0F766E"/>
      </a:accent1>
      <a:accent2>
        <a:srgbClr val="0369A1"/>
      </a:accent2>
      <a:accent3>
        <a:srgbClr val="F59E0B"/>
      </a:accent3>
      <a:accent4>
        <a:srgbClr val="7C3AED"/>
      </a:accent4>
      <a:accent5>
        <a:srgbClr val="B91C1C"/>
      </a:accent5>
      <a:accent6>
        <a:srgbClr val="15803D"/>
      </a:accent6>
      <a:hlink>
        <a:srgbClr val="0369A1"/>
      </a:hlink>
      <a:folHlink>
        <a:srgbClr val="7C3AED"/>
      </a:folHlink>
    </a:clrScheme>
    <a:fontScheme name="BLAST01 Forest Index">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 Trees in Cloud Databases — BLAST 01</dc:title>
  <dc:subject>CSC-6021 BLAST 01 video presentation</dc:subject>
  <dc:creator>Pranav Anil Singh</dc:creator>
  <cp:lastModifiedBy>Pranav Anil Singh</cp:lastModifiedBy>
  <cp:revision>1</cp:revision>
  <dcterms:created xsi:type="dcterms:W3CDTF">2026-10-18T03:03:31Z</dcterms:created>
  <dcterms:modified xsi:type="dcterms:W3CDTF">2026-10-18T03:03:31Z</dcterms:modified>
</cp:coreProperties>
</file>